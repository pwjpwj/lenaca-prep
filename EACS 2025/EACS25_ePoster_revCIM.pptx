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omments/modernComment_100_4455FA3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bookmarkIdSeed="3">
  <p:sldMasterIdLst>
    <p:sldMasterId id="2147483711" r:id="rId1"/>
  </p:sldMasterIdLst>
  <p:notesMasterIdLst>
    <p:notesMasterId r:id="rId3"/>
  </p:notesMasterIdLst>
  <p:sldIdLst>
    <p:sldId id="256" r:id="rId2"/>
  </p:sldIdLst>
  <p:sldSz cx="43200638" cy="32399288"/>
  <p:notesSz cx="6858000" cy="9144000"/>
  <p:embeddedFontLst>
    <p:embeddedFont>
      <p:font typeface="Arial Black" panose="020B0A04020102020204" pitchFamily="34" charset="0"/>
      <p:bold r:id="rId4"/>
    </p:embeddedFont>
    <p:embeddedFont>
      <p:font typeface="Open Sans" panose="020B0606030504020204" pitchFamily="34" charset="0"/>
      <p:regular r:id="rId5"/>
      <p:bold r:id="rId6"/>
      <p:italic r:id="rId7"/>
      <p:boldItalic r:id="rId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04" userDrawn="1">
          <p15:clr>
            <a:srgbClr val="A4A3A4"/>
          </p15:clr>
        </p15:guide>
        <p15:guide id="2" pos="88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6A39E7-FB6F-F94B-ADC4-AC94F605EC47}" name="Carlos Iniesta" initials="CI" userId="S::carlosiniesta@seisida.net::9295e5eb-1e4e-4dce-a55a-41675e74f03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4A79"/>
    <a:srgbClr val="3E1C31"/>
    <a:srgbClr val="2584C6"/>
    <a:srgbClr val="133C8B"/>
    <a:srgbClr val="007A88"/>
    <a:srgbClr val="40AF9E"/>
    <a:srgbClr val="E93547"/>
    <a:srgbClr val="96186A"/>
    <a:srgbClr val="C01444"/>
    <a:srgbClr val="0150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288" autoAdjust="0"/>
    <p:restoredTop sz="94660"/>
  </p:normalViewPr>
  <p:slideViewPr>
    <p:cSldViewPr snapToGrid="0">
      <p:cViewPr>
        <p:scale>
          <a:sx n="33" d="100"/>
          <a:sy n="33" d="100"/>
        </p:scale>
        <p:origin x="1182" y="-1080"/>
      </p:cViewPr>
      <p:guideLst>
        <p:guide orient="horz" pos="10204"/>
        <p:guide pos="883"/>
      </p:guideLst>
    </p:cSldViewPr>
  </p:slideViewPr>
  <p:notesTextViewPr>
    <p:cViewPr>
      <p:scale>
        <a:sx n="1" d="1"/>
        <a:sy n="1" d="1"/>
      </p:scale>
      <p:origin x="0" y="0"/>
    </p:cViewPr>
  </p:notesTextViewPr>
  <p:notesViewPr>
    <p:cSldViewPr snapToGrid="0">
      <p:cViewPr varScale="1">
        <p:scale>
          <a:sx n="119" d="100"/>
          <a:sy n="119" d="100"/>
        </p:scale>
        <p:origin x="3712"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heme" Target="theme/theme1.xml"/><Relationship Id="rId5" Type="http://schemas.openxmlformats.org/officeDocument/2006/relationships/font" Target="fonts/font2.fntdata"/><Relationship Id="rId10" Type="http://schemas.openxmlformats.org/officeDocument/2006/relationships/viewProps" Target="viewProps.xml"/><Relationship Id="rId4" Type="http://schemas.openxmlformats.org/officeDocument/2006/relationships/font" Target="fonts/font1.fntdata"/><Relationship Id="rId9" Type="http://schemas.openxmlformats.org/officeDocument/2006/relationships/presProps" Target="presProps.xml"/></Relationships>
</file>

<file path=ppt/comments/modernComment_100_4455FA30.xml><?xml version="1.0" encoding="utf-8"?>
<p188:cmLst xmlns:a="http://schemas.openxmlformats.org/drawingml/2006/main" xmlns:r="http://schemas.openxmlformats.org/officeDocument/2006/relationships" xmlns:p188="http://schemas.microsoft.com/office/powerpoint/2018/8/main">
  <p188:cm id="{BA3EAA61-6C28-4ED1-83C4-54B1BCE9CCCB}" authorId="{F26A39E7-FB6F-F94B-ADC4-AC94F605EC47}" created="2025-10-01T14:41:34.058">
    <ac:deMkLst xmlns:ac="http://schemas.microsoft.com/office/drawing/2013/main/command">
      <pc:docMk xmlns:pc="http://schemas.microsoft.com/office/powerpoint/2013/main/command"/>
      <pc:sldMk xmlns:pc="http://schemas.microsoft.com/office/powerpoint/2013/main/command" cId="1146485296" sldId="256"/>
      <ac:spMk id="64" creationId="{BB69D296-D40D-4612-A52D-FEAAEF4BDC50}"/>
    </ac:deMkLst>
    <p188:txBody>
      <a:bodyPr/>
      <a:lstStyle/>
      <a:p>
        <a:r>
          <a:rPr lang="es-ES"/>
          <a:t>Mejor Tenofovir disproxil/ Emtricitabine (TDx/FTC) pues los genericos tienen sales distintas del fumarato en su formulacion (en la tabla está ya asi). Una vez que se ha definido la abreviacion no hace falta volver a poner el nombre completo</a:t>
        </a:r>
      </a:p>
    </p188:txBody>
  </p188:cm>
  <p188:cm id="{0DA5ED90-83BF-4F68-AFD7-F89D76E62D5D}" authorId="{F26A39E7-FB6F-F94B-ADC4-AC94F605EC47}" created="2025-10-01T17:17:31.197">
    <ac:txMkLst xmlns:ac="http://schemas.microsoft.com/office/drawing/2013/main/command">
      <pc:docMk xmlns:pc="http://schemas.microsoft.com/office/powerpoint/2013/main/command"/>
      <pc:sldMk xmlns:pc="http://schemas.microsoft.com/office/powerpoint/2013/main/command" cId="1146485296" sldId="256"/>
      <ac:spMk id="21" creationId="{7A1E1E4F-9D49-3756-9E18-2EA5D276489D}"/>
      <ac:txMk cp="327" len="3">
        <ac:context len="350" hash="510237063"/>
      </ac:txMk>
    </ac:txMkLst>
    <p188:pos x="539804" y="3052895"/>
    <p188:txBody>
      <a:bodyPr/>
      <a:lstStyle/>
      <a:p>
        <a:r>
          <a:rPr lang="es-ES"/>
          <a:t>Errata: effectivenes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15308C-8DB6-634A-8BFE-A03C78FFF661}" type="datetimeFigureOut">
              <a:rPr lang="de-DE" smtClean="0"/>
              <a:t>01.10.2025</a:t>
            </a:fld>
            <a:endParaRPr lang="de-DE"/>
          </a:p>
        </p:txBody>
      </p:sp>
      <p:sp>
        <p:nvSpPr>
          <p:cNvPr id="4" name="Folienbildplatzhalt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0EE8A-2629-284E-9B93-20ABFEEA97CA}" type="slidenum">
              <a:rPr lang="de-DE" smtClean="0"/>
              <a:t>‹Nº›</a:t>
            </a:fld>
            <a:endParaRPr lang="de-DE"/>
          </a:p>
        </p:txBody>
      </p:sp>
    </p:spTree>
    <p:extLst>
      <p:ext uri="{BB962C8B-B14F-4D97-AF65-F5344CB8AC3E}">
        <p14:creationId xmlns:p14="http://schemas.microsoft.com/office/powerpoint/2010/main" val="2804128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3240048" y="5302386"/>
            <a:ext cx="36720542" cy="11279752"/>
          </a:xfrm>
        </p:spPr>
        <p:txBody>
          <a:bodyPr anchor="b"/>
          <a:lstStyle>
            <a:lvl1pPr algn="ctr">
              <a:defRPr sz="28346"/>
            </a:lvl1pPr>
          </a:lstStyle>
          <a:p>
            <a:r>
              <a:rPr lang="de-DE"/>
              <a:t>Mastertitelformat bearbeiten</a:t>
            </a:r>
            <a:endParaRPr lang="en-US" dirty="0"/>
          </a:p>
        </p:txBody>
      </p:sp>
      <p:sp>
        <p:nvSpPr>
          <p:cNvPr id="3" name="Subtitle 2"/>
          <p:cNvSpPr>
            <a:spLocks noGrp="1"/>
          </p:cNvSpPr>
          <p:nvPr>
            <p:ph type="subTitle" idx="1"/>
          </p:nvPr>
        </p:nvSpPr>
        <p:spPr>
          <a:xfrm>
            <a:off x="5400080" y="17017128"/>
            <a:ext cx="32400479" cy="7822326"/>
          </a:xfrm>
        </p:spPr>
        <p:txBody>
          <a:bodyPr/>
          <a:lstStyle>
            <a:lvl1pPr marL="0" indent="0" algn="ctr">
              <a:buNone/>
              <a:defRPr sz="11338"/>
            </a:lvl1pPr>
            <a:lvl2pPr marL="2159950" indent="0" algn="ctr">
              <a:buNone/>
              <a:defRPr sz="9449"/>
            </a:lvl2pPr>
            <a:lvl3pPr marL="4319900" indent="0" algn="ctr">
              <a:buNone/>
              <a:defRPr sz="8504"/>
            </a:lvl3pPr>
            <a:lvl4pPr marL="6479850" indent="0" algn="ctr">
              <a:buNone/>
              <a:defRPr sz="7559"/>
            </a:lvl4pPr>
            <a:lvl5pPr marL="8639800" indent="0" algn="ctr">
              <a:buNone/>
              <a:defRPr sz="7559"/>
            </a:lvl5pPr>
            <a:lvl6pPr marL="10799750" indent="0" algn="ctr">
              <a:buNone/>
              <a:defRPr sz="7559"/>
            </a:lvl6pPr>
            <a:lvl7pPr marL="12959700" indent="0" algn="ctr">
              <a:buNone/>
              <a:defRPr sz="7559"/>
            </a:lvl7pPr>
            <a:lvl8pPr marL="15119650" indent="0" algn="ctr">
              <a:buNone/>
              <a:defRPr sz="7559"/>
            </a:lvl8pPr>
            <a:lvl9pPr marL="17279600" indent="0" algn="ctr">
              <a:buNone/>
              <a:defRPr sz="7559"/>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F714AE1A-0DF6-4CC2-9F1C-1479A0385F19}" type="datetimeFigureOut">
              <a:rPr lang="es-ES" smtClean="0"/>
              <a:t>01/10/2025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962700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F714AE1A-0DF6-4CC2-9F1C-1479A0385F19}" type="datetimeFigureOut">
              <a:rPr lang="es-ES" smtClean="0"/>
              <a:t>01/10/2025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3857253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2947546" y="8077332"/>
            <a:ext cx="37260550" cy="13477201"/>
          </a:xfrm>
        </p:spPr>
        <p:txBody>
          <a:bodyPr anchor="b"/>
          <a:lstStyle>
            <a:lvl1pPr>
              <a:defRPr sz="28346"/>
            </a:lvl1pPr>
          </a:lstStyle>
          <a:p>
            <a:r>
              <a:rPr lang="de-DE"/>
              <a:t>Mastertitelformat bearbeiten</a:t>
            </a:r>
            <a:endParaRPr lang="en-US" dirty="0"/>
          </a:p>
        </p:txBody>
      </p:sp>
      <p:sp>
        <p:nvSpPr>
          <p:cNvPr id="3" name="Text Placeholder 2"/>
          <p:cNvSpPr>
            <a:spLocks noGrp="1"/>
          </p:cNvSpPr>
          <p:nvPr>
            <p:ph type="body" idx="1"/>
          </p:nvPr>
        </p:nvSpPr>
        <p:spPr>
          <a:xfrm>
            <a:off x="2947546" y="21682033"/>
            <a:ext cx="37260550" cy="7087342"/>
          </a:xfrm>
        </p:spPr>
        <p:txBody>
          <a:bodyPr/>
          <a:lstStyle>
            <a:lvl1pPr marL="0" indent="0">
              <a:buNone/>
              <a:defRPr sz="11338">
                <a:solidFill>
                  <a:schemeClr val="tx1"/>
                </a:solidFill>
              </a:defRPr>
            </a:lvl1pPr>
            <a:lvl2pPr marL="2159950" indent="0">
              <a:buNone/>
              <a:defRPr sz="9449">
                <a:solidFill>
                  <a:schemeClr val="tx1">
                    <a:tint val="75000"/>
                  </a:schemeClr>
                </a:solidFill>
              </a:defRPr>
            </a:lvl2pPr>
            <a:lvl3pPr marL="4319900" indent="0">
              <a:buNone/>
              <a:defRPr sz="8504">
                <a:solidFill>
                  <a:schemeClr val="tx1">
                    <a:tint val="75000"/>
                  </a:schemeClr>
                </a:solidFill>
              </a:defRPr>
            </a:lvl3pPr>
            <a:lvl4pPr marL="6479850" indent="0">
              <a:buNone/>
              <a:defRPr sz="7559">
                <a:solidFill>
                  <a:schemeClr val="tx1">
                    <a:tint val="75000"/>
                  </a:schemeClr>
                </a:solidFill>
              </a:defRPr>
            </a:lvl4pPr>
            <a:lvl5pPr marL="8639800" indent="0">
              <a:buNone/>
              <a:defRPr sz="7559">
                <a:solidFill>
                  <a:schemeClr val="tx1">
                    <a:tint val="75000"/>
                  </a:schemeClr>
                </a:solidFill>
              </a:defRPr>
            </a:lvl5pPr>
            <a:lvl6pPr marL="10799750" indent="0">
              <a:buNone/>
              <a:defRPr sz="7559">
                <a:solidFill>
                  <a:schemeClr val="tx1">
                    <a:tint val="75000"/>
                  </a:schemeClr>
                </a:solidFill>
              </a:defRPr>
            </a:lvl6pPr>
            <a:lvl7pPr marL="12959700" indent="0">
              <a:buNone/>
              <a:defRPr sz="7559">
                <a:solidFill>
                  <a:schemeClr val="tx1">
                    <a:tint val="75000"/>
                  </a:schemeClr>
                </a:solidFill>
              </a:defRPr>
            </a:lvl7pPr>
            <a:lvl8pPr marL="15119650" indent="0">
              <a:buNone/>
              <a:defRPr sz="7559">
                <a:solidFill>
                  <a:schemeClr val="tx1">
                    <a:tint val="75000"/>
                  </a:schemeClr>
                </a:solidFill>
              </a:defRPr>
            </a:lvl8pPr>
            <a:lvl9pPr marL="17279600" indent="0">
              <a:buNone/>
              <a:defRPr sz="7559">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F714AE1A-0DF6-4CC2-9F1C-1479A0385F19}" type="datetimeFigureOut">
              <a:rPr lang="es-ES" smtClean="0"/>
              <a:t>01/10/2025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2519422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2970044" y="8624810"/>
            <a:ext cx="18360271" cy="2055705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21870323" y="8624810"/>
            <a:ext cx="18360271" cy="2055705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F714AE1A-0DF6-4CC2-9F1C-1479A0385F19}" type="datetimeFigureOut">
              <a:rPr lang="es-ES" smtClean="0"/>
              <a:t>01/10/2025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73658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2975671" y="1724969"/>
            <a:ext cx="37260550" cy="6262365"/>
          </a:xfrm>
        </p:spPr>
        <p:txBody>
          <a:bodyPr/>
          <a:lstStyle/>
          <a:p>
            <a:r>
              <a:rPr lang="de-DE"/>
              <a:t>Mastertitelformat bearbeiten</a:t>
            </a:r>
            <a:endParaRPr lang="en-US" dirty="0"/>
          </a:p>
        </p:txBody>
      </p:sp>
      <p:sp>
        <p:nvSpPr>
          <p:cNvPr id="3" name="Text Placeholder 2"/>
          <p:cNvSpPr>
            <a:spLocks noGrp="1"/>
          </p:cNvSpPr>
          <p:nvPr>
            <p:ph type="body" idx="1"/>
          </p:nvPr>
        </p:nvSpPr>
        <p:spPr>
          <a:xfrm>
            <a:off x="2975675" y="7942328"/>
            <a:ext cx="18275892" cy="3892412"/>
          </a:xfrm>
        </p:spPr>
        <p:txBody>
          <a:bodyPr anchor="b"/>
          <a:lstStyle>
            <a:lvl1pPr marL="0" indent="0">
              <a:buNone/>
              <a:defRPr sz="11338" b="1"/>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de-DE"/>
              <a:t>Mastertextformat bearbeiten</a:t>
            </a:r>
          </a:p>
        </p:txBody>
      </p:sp>
      <p:sp>
        <p:nvSpPr>
          <p:cNvPr id="4" name="Content Placeholder 3"/>
          <p:cNvSpPr>
            <a:spLocks noGrp="1"/>
          </p:cNvSpPr>
          <p:nvPr>
            <p:ph sz="half" idx="2"/>
          </p:nvPr>
        </p:nvSpPr>
        <p:spPr>
          <a:xfrm>
            <a:off x="2975675" y="11834740"/>
            <a:ext cx="18275892" cy="1740712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21870325" y="7942328"/>
            <a:ext cx="18365898" cy="3892412"/>
          </a:xfrm>
        </p:spPr>
        <p:txBody>
          <a:bodyPr anchor="b"/>
          <a:lstStyle>
            <a:lvl1pPr marL="0" indent="0">
              <a:buNone/>
              <a:defRPr sz="11338" b="1"/>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de-DE"/>
              <a:t>Mastertextformat bearbeiten</a:t>
            </a:r>
          </a:p>
        </p:txBody>
      </p:sp>
      <p:sp>
        <p:nvSpPr>
          <p:cNvPr id="6" name="Content Placeholder 5"/>
          <p:cNvSpPr>
            <a:spLocks noGrp="1"/>
          </p:cNvSpPr>
          <p:nvPr>
            <p:ph sz="quarter" idx="4"/>
          </p:nvPr>
        </p:nvSpPr>
        <p:spPr>
          <a:xfrm>
            <a:off x="21870325" y="11834740"/>
            <a:ext cx="18365898" cy="1740712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F714AE1A-0DF6-4CC2-9F1C-1479A0385F19}" type="datetimeFigureOut">
              <a:rPr lang="es-ES" smtClean="0"/>
              <a:t>01/10/2025</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3337660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F714AE1A-0DF6-4CC2-9F1C-1479A0385F19}" type="datetimeFigureOut">
              <a:rPr lang="es-ES" smtClean="0"/>
              <a:t>01/10/2025</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1615340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14AE1A-0DF6-4CC2-9F1C-1479A0385F19}" type="datetimeFigureOut">
              <a:rPr lang="es-ES" smtClean="0"/>
              <a:t>01/10/2025</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1685777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2975671" y="2159952"/>
            <a:ext cx="13933330" cy="7559834"/>
          </a:xfrm>
        </p:spPr>
        <p:txBody>
          <a:bodyPr anchor="b"/>
          <a:lstStyle>
            <a:lvl1pPr>
              <a:defRPr sz="15118"/>
            </a:lvl1pPr>
          </a:lstStyle>
          <a:p>
            <a:r>
              <a:rPr lang="de-DE"/>
              <a:t>Mastertitelformat bearbeiten</a:t>
            </a:r>
            <a:endParaRPr lang="en-US" dirty="0"/>
          </a:p>
        </p:txBody>
      </p:sp>
      <p:sp>
        <p:nvSpPr>
          <p:cNvPr id="3" name="Content Placeholder 2"/>
          <p:cNvSpPr>
            <a:spLocks noGrp="1"/>
          </p:cNvSpPr>
          <p:nvPr>
            <p:ph idx="1"/>
          </p:nvPr>
        </p:nvSpPr>
        <p:spPr>
          <a:xfrm>
            <a:off x="18365898" y="4664905"/>
            <a:ext cx="21870323" cy="23024494"/>
          </a:xfrm>
        </p:spPr>
        <p:txBody>
          <a:bodyPr/>
          <a:lstStyle>
            <a:lvl1pPr>
              <a:defRPr sz="15118"/>
            </a:lvl1pPr>
            <a:lvl2pPr>
              <a:defRPr sz="13228"/>
            </a:lvl2pPr>
            <a:lvl3pPr>
              <a:defRPr sz="11338"/>
            </a:lvl3pPr>
            <a:lvl4pPr>
              <a:defRPr sz="9449"/>
            </a:lvl4pPr>
            <a:lvl5pPr>
              <a:defRPr sz="9449"/>
            </a:lvl5pPr>
            <a:lvl6pPr>
              <a:defRPr sz="9449"/>
            </a:lvl6pPr>
            <a:lvl7pPr>
              <a:defRPr sz="9449"/>
            </a:lvl7pPr>
            <a:lvl8pPr>
              <a:defRPr sz="9449"/>
            </a:lvl8pPr>
            <a:lvl9pPr>
              <a:defRPr sz="9449"/>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2975671" y="9719786"/>
            <a:ext cx="13933330" cy="18007107"/>
          </a:xfrm>
        </p:spPr>
        <p:txBody>
          <a:bodyPr/>
          <a:lstStyle>
            <a:lvl1pPr marL="0" indent="0">
              <a:buNone/>
              <a:defRPr sz="7559"/>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de-DE"/>
              <a:t>Mastertextformat bearbeiten</a:t>
            </a:r>
          </a:p>
        </p:txBody>
      </p:sp>
      <p:sp>
        <p:nvSpPr>
          <p:cNvPr id="5" name="Date Placeholder 4"/>
          <p:cNvSpPr>
            <a:spLocks noGrp="1"/>
          </p:cNvSpPr>
          <p:nvPr>
            <p:ph type="dt" sz="half" idx="10"/>
          </p:nvPr>
        </p:nvSpPr>
        <p:spPr/>
        <p:txBody>
          <a:bodyPr/>
          <a:lstStyle/>
          <a:p>
            <a:fld id="{F714AE1A-0DF6-4CC2-9F1C-1479A0385F19}" type="datetimeFigureOut">
              <a:rPr lang="es-ES" smtClean="0"/>
              <a:t>01/10/2025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3030565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2975671" y="2159952"/>
            <a:ext cx="13933330" cy="7559834"/>
          </a:xfrm>
        </p:spPr>
        <p:txBody>
          <a:bodyPr anchor="b"/>
          <a:lstStyle>
            <a:lvl1pPr>
              <a:defRPr sz="15118"/>
            </a:lvl1pPr>
          </a:lstStyle>
          <a:p>
            <a:r>
              <a:rPr lang="de-DE"/>
              <a:t>Mastertitelformat bearbeiten</a:t>
            </a:r>
            <a:endParaRPr lang="en-US" dirty="0"/>
          </a:p>
        </p:txBody>
      </p:sp>
      <p:sp>
        <p:nvSpPr>
          <p:cNvPr id="3" name="Picture Placeholder 2"/>
          <p:cNvSpPr>
            <a:spLocks noGrp="1" noChangeAspect="1"/>
          </p:cNvSpPr>
          <p:nvPr>
            <p:ph type="pic" idx="1"/>
          </p:nvPr>
        </p:nvSpPr>
        <p:spPr>
          <a:xfrm>
            <a:off x="18365898" y="4664905"/>
            <a:ext cx="21870323" cy="23024494"/>
          </a:xfrm>
        </p:spPr>
        <p:txBody>
          <a:bodyPr anchor="t"/>
          <a:lstStyle>
            <a:lvl1pPr marL="0" indent="0">
              <a:buNone/>
              <a:defRPr sz="15118"/>
            </a:lvl1pPr>
            <a:lvl2pPr marL="2159950" indent="0">
              <a:buNone/>
              <a:defRPr sz="13228"/>
            </a:lvl2pPr>
            <a:lvl3pPr marL="4319900" indent="0">
              <a:buNone/>
              <a:defRPr sz="11338"/>
            </a:lvl3pPr>
            <a:lvl4pPr marL="6479850" indent="0">
              <a:buNone/>
              <a:defRPr sz="9449"/>
            </a:lvl4pPr>
            <a:lvl5pPr marL="8639800" indent="0">
              <a:buNone/>
              <a:defRPr sz="9449"/>
            </a:lvl5pPr>
            <a:lvl6pPr marL="10799750" indent="0">
              <a:buNone/>
              <a:defRPr sz="9449"/>
            </a:lvl6pPr>
            <a:lvl7pPr marL="12959700" indent="0">
              <a:buNone/>
              <a:defRPr sz="9449"/>
            </a:lvl7pPr>
            <a:lvl8pPr marL="15119650" indent="0">
              <a:buNone/>
              <a:defRPr sz="9449"/>
            </a:lvl8pPr>
            <a:lvl9pPr marL="17279600" indent="0">
              <a:buNone/>
              <a:defRPr sz="9449"/>
            </a:lvl9pPr>
          </a:lstStyle>
          <a:p>
            <a:r>
              <a:rPr lang="de-DE"/>
              <a:t>Bild durch Klicken auf Symbol hinzufügen</a:t>
            </a:r>
            <a:endParaRPr lang="en-US" dirty="0"/>
          </a:p>
        </p:txBody>
      </p:sp>
      <p:sp>
        <p:nvSpPr>
          <p:cNvPr id="4" name="Text Placeholder 3"/>
          <p:cNvSpPr>
            <a:spLocks noGrp="1"/>
          </p:cNvSpPr>
          <p:nvPr>
            <p:ph type="body" sz="half" idx="2"/>
          </p:nvPr>
        </p:nvSpPr>
        <p:spPr>
          <a:xfrm>
            <a:off x="2975671" y="9719786"/>
            <a:ext cx="13933330" cy="18007107"/>
          </a:xfrm>
        </p:spPr>
        <p:txBody>
          <a:bodyPr/>
          <a:lstStyle>
            <a:lvl1pPr marL="0" indent="0">
              <a:buNone/>
              <a:defRPr sz="7559"/>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de-DE"/>
              <a:t>Mastertextformat bearbeiten</a:t>
            </a:r>
          </a:p>
        </p:txBody>
      </p:sp>
      <p:sp>
        <p:nvSpPr>
          <p:cNvPr id="5" name="Date Placeholder 4"/>
          <p:cNvSpPr>
            <a:spLocks noGrp="1"/>
          </p:cNvSpPr>
          <p:nvPr>
            <p:ph type="dt" sz="half" idx="10"/>
          </p:nvPr>
        </p:nvSpPr>
        <p:spPr/>
        <p:txBody>
          <a:bodyPr/>
          <a:lstStyle/>
          <a:p>
            <a:fld id="{F714AE1A-0DF6-4CC2-9F1C-1479A0385F19}" type="datetimeFigureOut">
              <a:rPr lang="es-ES" smtClean="0"/>
              <a:t>01/10/2025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3102439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F714AE1A-0DF6-4CC2-9F1C-1479A0385F19}" type="datetimeFigureOut">
              <a:rPr lang="es-ES" smtClean="0"/>
              <a:t>01/10/2025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2039758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915459" y="1724962"/>
            <a:ext cx="9315138" cy="27456899"/>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2970046" y="1724962"/>
            <a:ext cx="27405405" cy="27456899"/>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F714AE1A-0DF6-4CC2-9F1C-1479A0385F19}" type="datetimeFigureOut">
              <a:rPr lang="es-ES" smtClean="0"/>
              <a:t>01/10/2025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9360294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283CC342-31D9-482C-9A2F-CAAA15879674}"/>
              </a:ext>
            </a:extLst>
          </p:cNvPr>
          <p:cNvGrpSpPr/>
          <p:nvPr userDrawn="1"/>
        </p:nvGrpSpPr>
        <p:grpSpPr>
          <a:xfrm>
            <a:off x="-5291200" y="-2407380"/>
            <a:ext cx="53782815" cy="37888966"/>
            <a:chOff x="-3968256" y="-3209960"/>
            <a:chExt cx="40335631" cy="50520480"/>
          </a:xfrm>
        </p:grpSpPr>
        <p:sp>
          <p:nvSpPr>
            <p:cNvPr id="8" name="Rectángulo 7">
              <a:extLst>
                <a:ext uri="{FF2B5EF4-FFF2-40B4-BE49-F238E27FC236}">
                  <a16:creationId xmlns:a16="http://schemas.microsoft.com/office/drawing/2014/main" id="{DD73FAF1-484B-4075-882F-3BEA1FF24B76}"/>
                </a:ext>
              </a:extLst>
            </p:cNvPr>
            <p:cNvSpPr/>
            <p:nvPr userDrawn="1"/>
          </p:nvSpPr>
          <p:spPr>
            <a:xfrm rot="16200000">
              <a:off x="24123133" y="18982539"/>
              <a:ext cx="21880174" cy="2608310"/>
            </a:xfrm>
            <a:prstGeom prst="rect">
              <a:avLst/>
            </a:prstGeom>
            <a:noFill/>
            <a:ln>
              <a:noFill/>
            </a:ln>
          </p:spPr>
          <p:txBody>
            <a:bodyPr wrap="square">
              <a:spAutoFit/>
            </a:bodyPr>
            <a:lstStyle/>
            <a:p>
              <a:pPr algn="ctr"/>
              <a:r>
                <a:rPr lang="en-US" sz="11000" b="1" cap="all" dirty="0">
                  <a:solidFill>
                    <a:schemeClr val="bg2">
                      <a:lumMod val="90000"/>
                    </a:schemeClr>
                  </a:solidFill>
                  <a:latin typeface="Arial Black" panose="020B0A04020102020204" pitchFamily="34" charset="0"/>
                  <a:cs typeface="Arial" panose="020B0604020202020204" pitchFamily="34" charset="0"/>
                </a:rPr>
                <a:t>Non-printable area</a:t>
              </a:r>
              <a:endParaRPr lang="es-ES" sz="11000" b="1" dirty="0">
                <a:solidFill>
                  <a:schemeClr val="bg2">
                    <a:lumMod val="90000"/>
                  </a:schemeClr>
                </a:solidFill>
                <a:latin typeface="Arial Black" panose="020B0A04020102020204" pitchFamily="34" charset="0"/>
                <a:cs typeface="Arial" panose="020B0604020202020204" pitchFamily="34" charset="0"/>
              </a:endParaRPr>
            </a:p>
          </p:txBody>
        </p:sp>
        <p:sp>
          <p:nvSpPr>
            <p:cNvPr id="9" name="Rectángulo 8">
              <a:extLst>
                <a:ext uri="{FF2B5EF4-FFF2-40B4-BE49-F238E27FC236}">
                  <a16:creationId xmlns:a16="http://schemas.microsoft.com/office/drawing/2014/main" id="{6DE023D6-24B6-4C90-94CE-7DE7E58922EE}"/>
                </a:ext>
              </a:extLst>
            </p:cNvPr>
            <p:cNvSpPr/>
            <p:nvPr userDrawn="1"/>
          </p:nvSpPr>
          <p:spPr>
            <a:xfrm>
              <a:off x="-287905" y="44930294"/>
              <a:ext cx="32687193" cy="2380226"/>
            </a:xfrm>
            <a:prstGeom prst="rect">
              <a:avLst/>
            </a:prstGeom>
            <a:noFill/>
            <a:ln>
              <a:noFill/>
            </a:ln>
          </p:spPr>
          <p:txBody>
            <a:bodyPr wrap="square">
              <a:spAutoFit/>
            </a:bodyPr>
            <a:lstStyle/>
            <a:p>
              <a:pPr algn="ctr"/>
              <a:r>
                <a:rPr lang="en-US" sz="11000" b="1" cap="all" dirty="0">
                  <a:solidFill>
                    <a:schemeClr val="bg2">
                      <a:lumMod val="90000"/>
                    </a:schemeClr>
                  </a:solidFill>
                  <a:latin typeface="Arial Black" panose="020B0A04020102020204" pitchFamily="34" charset="0"/>
                  <a:cs typeface="Arial" panose="020B0604020202020204" pitchFamily="34" charset="0"/>
                </a:rPr>
                <a:t>Non-printable area</a:t>
              </a:r>
              <a:endParaRPr lang="es-ES" sz="11000" b="1" dirty="0">
                <a:solidFill>
                  <a:schemeClr val="bg2">
                    <a:lumMod val="90000"/>
                  </a:schemeClr>
                </a:solidFill>
                <a:latin typeface="Arial Black" panose="020B0A04020102020204" pitchFamily="34" charset="0"/>
                <a:cs typeface="Arial" panose="020B0604020202020204" pitchFamily="34" charset="0"/>
              </a:endParaRPr>
            </a:p>
          </p:txBody>
        </p:sp>
        <p:sp>
          <p:nvSpPr>
            <p:cNvPr id="10" name="Rectángulo 9">
              <a:extLst>
                <a:ext uri="{FF2B5EF4-FFF2-40B4-BE49-F238E27FC236}">
                  <a16:creationId xmlns:a16="http://schemas.microsoft.com/office/drawing/2014/main" id="{E89D7DCB-B948-4E2A-AC45-B1353DDAC384}"/>
                </a:ext>
              </a:extLst>
            </p:cNvPr>
            <p:cNvSpPr/>
            <p:nvPr userDrawn="1"/>
          </p:nvSpPr>
          <p:spPr>
            <a:xfrm rot="16200000">
              <a:off x="-13604187" y="18982539"/>
              <a:ext cx="21880174" cy="2608311"/>
            </a:xfrm>
            <a:prstGeom prst="rect">
              <a:avLst/>
            </a:prstGeom>
            <a:noFill/>
            <a:ln>
              <a:noFill/>
            </a:ln>
          </p:spPr>
          <p:txBody>
            <a:bodyPr wrap="square">
              <a:spAutoFit/>
            </a:bodyPr>
            <a:lstStyle/>
            <a:p>
              <a:pPr algn="ctr"/>
              <a:r>
                <a:rPr lang="en-US" sz="11000" b="1" cap="all" dirty="0">
                  <a:solidFill>
                    <a:schemeClr val="bg2">
                      <a:lumMod val="90000"/>
                    </a:schemeClr>
                  </a:solidFill>
                  <a:latin typeface="Arial Black" panose="020B0A04020102020204" pitchFamily="34" charset="0"/>
                  <a:cs typeface="Arial" panose="020B0604020202020204" pitchFamily="34" charset="0"/>
                </a:rPr>
                <a:t>Non-printable area</a:t>
              </a:r>
              <a:endParaRPr lang="es-ES" sz="11000" b="1" dirty="0">
                <a:solidFill>
                  <a:schemeClr val="bg2">
                    <a:lumMod val="90000"/>
                  </a:schemeClr>
                </a:solidFill>
                <a:latin typeface="Arial Black" panose="020B0A040201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C4292ED5-0073-4642-98AB-85E9E9B5AD6C}"/>
                </a:ext>
              </a:extLst>
            </p:cNvPr>
            <p:cNvSpPr/>
            <p:nvPr userDrawn="1"/>
          </p:nvSpPr>
          <p:spPr>
            <a:xfrm>
              <a:off x="-135505" y="-3209960"/>
              <a:ext cx="32687193" cy="2380226"/>
            </a:xfrm>
            <a:prstGeom prst="rect">
              <a:avLst/>
            </a:prstGeom>
            <a:noFill/>
            <a:ln>
              <a:noFill/>
            </a:ln>
          </p:spPr>
          <p:txBody>
            <a:bodyPr wrap="square">
              <a:spAutoFit/>
            </a:bodyPr>
            <a:lstStyle/>
            <a:p>
              <a:pPr algn="ctr"/>
              <a:r>
                <a:rPr lang="en-US" sz="11000" b="1" cap="all" dirty="0">
                  <a:solidFill>
                    <a:schemeClr val="bg2">
                      <a:lumMod val="90000"/>
                    </a:schemeClr>
                  </a:solidFill>
                  <a:latin typeface="Arial Black" panose="020B0A04020102020204" pitchFamily="34" charset="0"/>
                  <a:cs typeface="Arial" panose="020B0604020202020204" pitchFamily="34" charset="0"/>
                </a:rPr>
                <a:t>Non-printable area</a:t>
              </a:r>
              <a:endParaRPr lang="es-ES" sz="11000" b="1" dirty="0">
                <a:solidFill>
                  <a:schemeClr val="bg2">
                    <a:lumMod val="90000"/>
                  </a:schemeClr>
                </a:solidFill>
                <a:latin typeface="Arial Black" panose="020B0A04020102020204" pitchFamily="34" charset="0"/>
                <a:cs typeface="Arial" panose="020B0604020202020204" pitchFamily="34" charset="0"/>
              </a:endParaRPr>
            </a:p>
          </p:txBody>
        </p:sp>
      </p:grpSp>
      <p:sp>
        <p:nvSpPr>
          <p:cNvPr id="2" name="TextBox 1">
            <a:extLst>
              <a:ext uri="{FF2B5EF4-FFF2-40B4-BE49-F238E27FC236}">
                <a16:creationId xmlns:a16="http://schemas.microsoft.com/office/drawing/2014/main" id="{B8784A1F-5F17-C1EA-DA1B-6275470656F6}"/>
              </a:ext>
            </a:extLst>
          </p:cNvPr>
          <p:cNvSpPr txBox="1"/>
          <p:nvPr userDrawn="1"/>
        </p:nvSpPr>
        <p:spPr>
          <a:xfrm>
            <a:off x="48859888" y="5382910"/>
            <a:ext cx="22006112" cy="25450750"/>
          </a:xfrm>
          <a:prstGeom prst="rect">
            <a:avLst/>
          </a:prstGeom>
          <a:noFill/>
        </p:spPr>
        <p:txBody>
          <a:bodyPr wrap="square" rtlCol="0">
            <a:spAutoFit/>
          </a:bodyPr>
          <a:lstStyle/>
          <a:p>
            <a:pPr algn="ctr">
              <a:lnSpc>
                <a:spcPct val="107000"/>
              </a:lnSpc>
              <a:spcAft>
                <a:spcPts val="800"/>
              </a:spcAft>
            </a:pPr>
            <a:r>
              <a:rPr lang="en-US" sz="8801" b="1" kern="100" spc="600" dirty="0">
                <a:solidFill>
                  <a:srgbClr val="215E99"/>
                </a:solidFill>
                <a:effectLst/>
                <a:latin typeface="Open Sans" panose="020B0606030504020204" pitchFamily="34" charset="0"/>
                <a:ea typeface="Aptos" panose="020B0004020202020204" pitchFamily="34" charset="0"/>
                <a:cs typeface="Times New Roman" panose="02020603050405020304" pitchFamily="18" charset="0"/>
              </a:rPr>
              <a:t>RECOMMENDATIONS </a:t>
            </a:r>
            <a:endParaRPr lang="en-ZA" sz="8801" kern="100" spc="6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6000" b="1" kern="100" dirty="0">
                <a:solidFill>
                  <a:srgbClr val="215E99"/>
                </a:solidFill>
                <a:effectLst/>
                <a:latin typeface="Open Sans" panose="020B0606030504020204" pitchFamily="34" charset="0"/>
                <a:ea typeface="Aptos" panose="020B0004020202020204" pitchFamily="34" charset="0"/>
                <a:cs typeface="Times New Roman" panose="02020603050405020304" pitchFamily="18" charset="0"/>
              </a:rPr>
              <a:t> </a:t>
            </a:r>
            <a:endParaRPr lang="en-ZA" sz="6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b="1" kern="100" dirty="0">
                <a:solidFill>
                  <a:srgbClr val="215E99"/>
                </a:solidFill>
                <a:effectLst/>
                <a:latin typeface="Open Sans" panose="020B0606030504020204" pitchFamily="34" charset="0"/>
                <a:ea typeface="Aptos" panose="020B0004020202020204" pitchFamily="34" charset="0"/>
                <a:cs typeface="Times New Roman" panose="02020603050405020304" pitchFamily="18" charset="0"/>
              </a:rPr>
              <a:t>TEMPLATE / FILE REQUIREMENTS</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de-DE" sz="4001" kern="100" dirty="0" err="1">
                <a:solidFill>
                  <a:schemeClr val="tx1"/>
                </a:solidFill>
                <a:effectLst/>
                <a:latin typeface="Open Sans" panose="020B0606030504020204" pitchFamily="34" charset="0"/>
                <a:cs typeface="Times New Roman" panose="02020603050405020304" pitchFamily="18" charset="0"/>
              </a:rPr>
              <a:t>We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strongly</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suggest</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the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use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of</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the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official</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template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Should</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you</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choose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to</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work</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with</a:t>
            </a:r>
            <a:r>
              <a:rPr lang="de-DE" sz="4001" kern="100" dirty="0">
                <a:solidFill>
                  <a:schemeClr val="tx1"/>
                </a:solidFill>
                <a:effectLst/>
                <a:latin typeface="Open Sans" panose="020B0606030504020204" pitchFamily="34" charset="0"/>
                <a:cs typeface="Times New Roman" panose="02020603050405020304" pitchFamily="18" charset="0"/>
              </a:rPr>
              <a:t> alternative </a:t>
            </a:r>
            <a:r>
              <a:rPr lang="de-DE" sz="4001" kern="100" dirty="0" err="1">
                <a:solidFill>
                  <a:schemeClr val="tx1"/>
                </a:solidFill>
                <a:effectLst/>
                <a:latin typeface="Open Sans" panose="020B0606030504020204" pitchFamily="34" charset="0"/>
                <a:cs typeface="Times New Roman" panose="02020603050405020304" pitchFamily="18" charset="0"/>
              </a:rPr>
              <a:t>colour</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designs</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or</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schemes</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please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make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sure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to</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use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landscape</a:t>
            </a:r>
            <a:r>
              <a:rPr lang="de-DE" sz="4001" kern="100" dirty="0">
                <a:solidFill>
                  <a:schemeClr val="tx1"/>
                </a:solidFill>
                <a:effectLst/>
                <a:latin typeface="Open Sans" panose="020B0606030504020204" pitchFamily="34" charset="0"/>
                <a:cs typeface="Times New Roman" panose="02020603050405020304" pitchFamily="18" charset="0"/>
              </a:rPr>
              <a:t>, i.e. horizontal </a:t>
            </a:r>
            <a:r>
              <a:rPr lang="de-DE" sz="4001" kern="100" dirty="0" err="1">
                <a:solidFill>
                  <a:schemeClr val="tx1"/>
                </a:solidFill>
                <a:effectLst/>
                <a:latin typeface="Open Sans" panose="020B0606030504020204" pitchFamily="34" charset="0"/>
                <a:cs typeface="Times New Roman" panose="02020603050405020304" pitchFamily="18" charset="0"/>
              </a:rPr>
              <a:t>orientation</a:t>
            </a:r>
            <a:r>
              <a:rPr lang="de-DE" sz="4001" kern="100" dirty="0">
                <a:solidFill>
                  <a:schemeClr val="tx1"/>
                </a:solidFill>
                <a:effectLst/>
                <a:latin typeface="Open Sans" panose="020B0606030504020204" pitchFamily="34" charset="0"/>
                <a:cs typeface="Times New Roman" panose="02020603050405020304" pitchFamily="18" charset="0"/>
              </a:rPr>
              <a:t>. Maximum </a:t>
            </a:r>
            <a:r>
              <a:rPr lang="de-DE" sz="4001" kern="100" dirty="0" err="1">
                <a:solidFill>
                  <a:schemeClr val="tx1"/>
                </a:solidFill>
                <a:effectLst/>
                <a:latin typeface="Open Sans" panose="020B0606030504020204" pitchFamily="34" charset="0"/>
                <a:cs typeface="Times New Roman" panose="02020603050405020304" pitchFamily="18" charset="0"/>
              </a:rPr>
              <a:t>one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page</a:t>
            </a:r>
            <a:r>
              <a:rPr lang="de-DE" sz="4001" kern="100" dirty="0">
                <a:solidFill>
                  <a:schemeClr val="tx1"/>
                </a:solidFill>
                <a:effectLst/>
                <a:latin typeface="Open Sans" panose="020B0606030504020204" pitchFamily="34" charset="0"/>
                <a:cs typeface="Times New Roman" panose="02020603050405020304" pitchFamily="18" charset="0"/>
              </a:rPr>
              <a:t>, maximum 5 MB. </a:t>
            </a:r>
            <a:r>
              <a:rPr lang="de-DE" sz="4001" kern="100" dirty="0" err="1">
                <a:solidFill>
                  <a:schemeClr val="tx1"/>
                </a:solidFill>
                <a:effectLst/>
                <a:latin typeface="Open Sans" panose="020B0606030504020204" pitchFamily="34" charset="0"/>
                <a:cs typeface="Times New Roman" panose="02020603050405020304" pitchFamily="18" charset="0"/>
              </a:rPr>
              <a:t>Allowed</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file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extensions</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b="1" kern="100" dirty="0">
                <a:solidFill>
                  <a:schemeClr val="tx1"/>
                </a:solidFill>
                <a:effectLst/>
                <a:latin typeface="Open Sans" panose="020B0606030504020204" pitchFamily="34" charset="0"/>
                <a:cs typeface="Times New Roman" panose="02020603050405020304" pitchFamily="18" charset="0"/>
              </a:rPr>
              <a:t>*.</a:t>
            </a:r>
            <a:r>
              <a:rPr lang="de-DE" sz="4001" b="1" kern="100" dirty="0" err="1">
                <a:solidFill>
                  <a:schemeClr val="tx1"/>
                </a:solidFill>
                <a:effectLst/>
                <a:latin typeface="Open Sans" panose="020B0606030504020204" pitchFamily="34" charset="0"/>
                <a:cs typeface="Times New Roman" panose="02020603050405020304" pitchFamily="18" charset="0"/>
              </a:rPr>
              <a:t>ppt</a:t>
            </a:r>
            <a:r>
              <a:rPr lang="de-DE" sz="4001" b="1" kern="100" dirty="0">
                <a:solidFill>
                  <a:schemeClr val="tx1"/>
                </a:solidFill>
                <a:effectLst/>
                <a:latin typeface="Open Sans" panose="020B0606030504020204" pitchFamily="34" charset="0"/>
                <a:cs typeface="Times New Roman" panose="02020603050405020304" pitchFamily="18" charset="0"/>
              </a:rPr>
              <a:t>, *.</a:t>
            </a:r>
            <a:r>
              <a:rPr lang="de-DE" sz="4001" b="1" kern="100" dirty="0" err="1">
                <a:solidFill>
                  <a:schemeClr val="tx1"/>
                </a:solidFill>
                <a:effectLst/>
                <a:latin typeface="Open Sans" panose="020B0606030504020204" pitchFamily="34" charset="0"/>
                <a:cs typeface="Times New Roman" panose="02020603050405020304" pitchFamily="18" charset="0"/>
              </a:rPr>
              <a:t>pptx</a:t>
            </a:r>
            <a:r>
              <a:rPr lang="de-DE" sz="4001" b="1" kern="100" dirty="0">
                <a:solidFill>
                  <a:schemeClr val="tx1"/>
                </a:solidFill>
                <a:effectLst/>
                <a:latin typeface="Open Sans" panose="020B0606030504020204" pitchFamily="34" charset="0"/>
                <a:cs typeface="Times New Roman" panose="02020603050405020304" pitchFamily="18" charset="0"/>
              </a:rPr>
              <a:t>, *.</a:t>
            </a:r>
            <a:r>
              <a:rPr lang="de-DE" sz="4001" b="1" kern="100" dirty="0" err="1">
                <a:solidFill>
                  <a:schemeClr val="tx1"/>
                </a:solidFill>
                <a:effectLst/>
                <a:latin typeface="Open Sans" panose="020B0606030504020204" pitchFamily="34" charset="0"/>
                <a:cs typeface="Times New Roman" panose="02020603050405020304" pitchFamily="18" charset="0"/>
              </a:rPr>
              <a:t>pdf</a:t>
            </a:r>
            <a:r>
              <a:rPr lang="de-DE" sz="4001" kern="100" dirty="0">
                <a:solidFill>
                  <a:schemeClr val="tx1"/>
                </a:solidFill>
                <a:effectLst/>
                <a:latin typeface="Open Sans" panose="020B0606030504020204" pitchFamily="34" charset="0"/>
                <a:cs typeface="Times New Roman" panose="02020603050405020304" pitchFamily="18" charset="0"/>
              </a:rPr>
              <a:t>.</a:t>
            </a: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 </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b="1" kern="100" dirty="0">
                <a:solidFill>
                  <a:srgbClr val="215E99"/>
                </a:solidFill>
                <a:effectLst/>
                <a:latin typeface="Open Sans" panose="020B0606030504020204" pitchFamily="34" charset="0"/>
                <a:ea typeface="Aptos" panose="020B0004020202020204" pitchFamily="34" charset="0"/>
                <a:cs typeface="Times New Roman" panose="02020603050405020304" pitchFamily="18" charset="0"/>
              </a:rPr>
              <a:t>SECTIONS of your </a:t>
            </a:r>
            <a:r>
              <a:rPr lang="en-US" sz="4001" b="1" kern="100" dirty="0" err="1">
                <a:solidFill>
                  <a:srgbClr val="215E99"/>
                </a:solidFill>
                <a:effectLst/>
                <a:latin typeface="Open Sans" panose="020B0606030504020204" pitchFamily="34" charset="0"/>
                <a:ea typeface="Aptos" panose="020B0004020202020204" pitchFamily="34" charset="0"/>
                <a:cs typeface="Times New Roman" panose="02020603050405020304" pitchFamily="18" charset="0"/>
              </a:rPr>
              <a:t>ePoster</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The following sections should appear clearly in differentiated blocks:</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marL="342917" marR="0" lvl="0" indent="-342917" algn="l" defTabSz="457200" rtl="0" eaLnBrk="1" fontAlgn="auto" latinLnBrk="0" hangingPunct="1">
              <a:lnSpc>
                <a:spcPct val="107000"/>
              </a:lnSpc>
              <a:spcBef>
                <a:spcPts val="0"/>
              </a:spcBef>
              <a:spcAft>
                <a:spcPts val="0"/>
              </a:spcAft>
              <a:buClrTx/>
              <a:buSzTx/>
              <a:buFont typeface="Aptos" panose="020B0004020202020204" pitchFamily="34" charset="0"/>
              <a:buChar char="-"/>
              <a:tabLst/>
              <a:defRPr/>
            </a:pPr>
            <a:r>
              <a:rPr lang="de-DE" sz="4001" kern="100" dirty="0">
                <a:solidFill>
                  <a:schemeClr val="tx1"/>
                </a:solidFill>
                <a:effectLst/>
                <a:latin typeface="Open Sans" panose="020B0606030504020204" pitchFamily="34" charset="0"/>
                <a:cs typeface="Times New Roman" panose="02020603050405020304" pitchFamily="18" charset="0"/>
              </a:rPr>
              <a:t>Purpose</a:t>
            </a:r>
            <a:endParaRPr lang="en-ZA" sz="4001" kern="100" dirty="0">
              <a:solidFill>
                <a:schemeClr val="tx1"/>
              </a:solidFill>
              <a:effectLst/>
              <a:latin typeface="Open Sans" panose="020B0606030504020204" pitchFamily="34" charset="0"/>
              <a:ea typeface="Aptos" panose="020B0004020202020204" pitchFamily="34" charset="0"/>
              <a:cs typeface="Times New Roman" panose="02020603050405020304" pitchFamily="18" charset="0"/>
            </a:endParaRPr>
          </a:p>
          <a:p>
            <a:pPr marL="342917" lvl="0" indent="-342917">
              <a:lnSpc>
                <a:spcPct val="107000"/>
              </a:lnSpc>
              <a:buFont typeface="Aptos" panose="020B0004020202020204" pitchFamily="34" charset="0"/>
              <a:buChar char="-"/>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Methods</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marL="342917" lvl="0" indent="-342917">
              <a:lnSpc>
                <a:spcPct val="107000"/>
              </a:lnSpc>
              <a:buFont typeface="Aptos" panose="020B0004020202020204" pitchFamily="34" charset="0"/>
              <a:buChar char="-"/>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Results</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marL="342917" lvl="0" indent="-342917">
              <a:lnSpc>
                <a:spcPct val="107000"/>
              </a:lnSpc>
              <a:spcAft>
                <a:spcPts val="800"/>
              </a:spcAft>
              <a:buFont typeface="Aptos" panose="020B0004020202020204" pitchFamily="34" charset="0"/>
              <a:buChar char="-"/>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Conclusion</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 </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b="1" kern="100" dirty="0">
                <a:solidFill>
                  <a:srgbClr val="215E99"/>
                </a:solidFill>
                <a:effectLst/>
                <a:latin typeface="Open Sans" panose="020B0606030504020204" pitchFamily="34" charset="0"/>
                <a:ea typeface="Aptos" panose="020B0004020202020204" pitchFamily="34" charset="0"/>
                <a:cs typeface="Times New Roman" panose="02020603050405020304" pitchFamily="18" charset="0"/>
              </a:rPr>
              <a:t>RECOMMENDED TITLE/TEXT SIZE </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Title: Between 80pt and 100pt </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Affiliations: Between 30pt and 36pt</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Abstract body text: Between 28pt and 40pt (depending on how much text is included).</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Please use dark text colors on a light background and vice versa.</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b="1" kern="100" dirty="0">
                <a:effectLst/>
                <a:latin typeface="Open Sans" panose="020B0606030504020204" pitchFamily="34" charset="0"/>
                <a:ea typeface="Aptos" panose="020B0004020202020204" pitchFamily="34" charset="0"/>
                <a:cs typeface="Times New Roman" panose="02020603050405020304" pitchFamily="18" charset="0"/>
              </a:rPr>
              <a:t> </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b="1" kern="100" dirty="0">
                <a:solidFill>
                  <a:srgbClr val="215E99"/>
                </a:solidFill>
                <a:effectLst/>
                <a:latin typeface="Open Sans" panose="020B0606030504020204" pitchFamily="34" charset="0"/>
                <a:ea typeface="Aptos" panose="020B0004020202020204" pitchFamily="34" charset="0"/>
                <a:cs typeface="Times New Roman" panose="02020603050405020304" pitchFamily="18" charset="0"/>
              </a:rPr>
              <a:t>ADDING IMAGES</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Please use Insert Image (from file) rather than the cut/copy and paste function. </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b="1" kern="100" dirty="0">
                <a:effectLst/>
                <a:latin typeface="Open Sans" panose="020B0606030504020204" pitchFamily="34" charset="0"/>
                <a:ea typeface="Aptos" panose="020B0004020202020204" pitchFamily="34" charset="0"/>
                <a:cs typeface="Times New Roman" panose="02020603050405020304" pitchFamily="18" charset="0"/>
              </a:rPr>
              <a:t> </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b="1" kern="100" dirty="0">
                <a:solidFill>
                  <a:srgbClr val="215E99"/>
                </a:solidFill>
                <a:effectLst/>
                <a:latin typeface="Open Sans" panose="020B0606030504020204" pitchFamily="34" charset="0"/>
                <a:ea typeface="Aptos" panose="020B0004020202020204" pitchFamily="34" charset="0"/>
                <a:cs typeface="Times New Roman" panose="02020603050405020304" pitchFamily="18" charset="0"/>
              </a:rPr>
              <a:t>EXPORTING your </a:t>
            </a:r>
            <a:r>
              <a:rPr lang="en-US" sz="4001" b="1" kern="100" dirty="0" err="1">
                <a:solidFill>
                  <a:srgbClr val="215E99"/>
                </a:solidFill>
                <a:effectLst/>
                <a:latin typeface="Open Sans" panose="020B0606030504020204" pitchFamily="34" charset="0"/>
                <a:ea typeface="Aptos" panose="020B0004020202020204" pitchFamily="34" charset="0"/>
                <a:cs typeface="Times New Roman" panose="02020603050405020304" pitchFamily="18" charset="0"/>
              </a:rPr>
              <a:t>ePoster</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You can either save this as a ppt/pptx or export (save as) a pdf. </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Please check your poster carefully before submitting.</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 </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6000" kern="100" dirty="0">
                <a:effectLst/>
                <a:latin typeface="Open Sans" panose="020B0606030504020204" pitchFamily="34" charset="0"/>
                <a:ea typeface="Aptos" panose="020B0004020202020204" pitchFamily="34" charset="0"/>
                <a:cs typeface="Times New Roman" panose="02020603050405020304" pitchFamily="18" charset="0"/>
              </a:rPr>
              <a:t> </a:t>
            </a:r>
            <a:endParaRPr lang="en-ZA" sz="6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6000" kern="100" dirty="0">
                <a:effectLst/>
                <a:latin typeface="Open Sans" panose="020B0606030504020204" pitchFamily="34" charset="0"/>
                <a:ea typeface="Aptos" panose="020B0004020202020204" pitchFamily="34" charset="0"/>
                <a:cs typeface="Times New Roman" panose="02020603050405020304" pitchFamily="18" charset="0"/>
              </a:rPr>
              <a:t> </a:t>
            </a:r>
            <a:endParaRPr lang="en-ZA" sz="6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6000" kern="100" dirty="0">
                <a:effectLst/>
                <a:latin typeface="Open Sans" panose="020B0606030504020204" pitchFamily="34" charset="0"/>
                <a:ea typeface="Aptos" panose="020B0004020202020204" pitchFamily="34" charset="0"/>
                <a:cs typeface="Times New Roman" panose="02020603050405020304" pitchFamily="18" charset="0"/>
              </a:rPr>
              <a:t> </a:t>
            </a:r>
            <a:endParaRPr lang="en-ZA" sz="60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ZA" sz="6000" dirty="0"/>
          </a:p>
        </p:txBody>
      </p:sp>
      <p:pic>
        <p:nvPicPr>
          <p:cNvPr id="16" name="Grafik 15" descr="Ein Bild, das Text, Screenshot, Software, Betriebssystem enthält.&#10;&#10;KI-generierte Inhalte können fehlerhaft sein.">
            <a:extLst>
              <a:ext uri="{FF2B5EF4-FFF2-40B4-BE49-F238E27FC236}">
                <a16:creationId xmlns:a16="http://schemas.microsoft.com/office/drawing/2014/main" id="{F45975BD-5013-FE1B-A7CC-BEB065FE4BC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93"/>
            <a:ext cx="43200638" cy="32403653"/>
          </a:xfrm>
          <a:prstGeom prst="rect">
            <a:avLst/>
          </a:prstGeom>
        </p:spPr>
      </p:pic>
    </p:spTree>
    <p:extLst>
      <p:ext uri="{BB962C8B-B14F-4D97-AF65-F5344CB8AC3E}">
        <p14:creationId xmlns:p14="http://schemas.microsoft.com/office/powerpoint/2010/main" val="2098211755"/>
      </p:ext>
    </p:extLst>
  </p:cSld>
  <p:clrMapOvr>
    <a:masterClrMapping/>
  </p:clrMapOvr>
  <p:extLst>
    <p:ext uri="{DCECCB84-F9BA-43D5-87BE-67443E8EF086}">
      <p15:sldGuideLst xmlns:p15="http://schemas.microsoft.com/office/powerpoint/2012/main">
        <p15:guide id="1" orient="horz" pos="10204" userDrawn="1">
          <p15:clr>
            <a:srgbClr val="FBAE40"/>
          </p15:clr>
        </p15:guide>
        <p15:guide id="2" pos="1360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70044" y="1724969"/>
            <a:ext cx="37260550" cy="6262365"/>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2970044" y="8624810"/>
            <a:ext cx="37260550" cy="20557051"/>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2970044" y="30029347"/>
            <a:ext cx="9720144" cy="1724962"/>
          </a:xfrm>
          <a:prstGeom prst="rect">
            <a:avLst/>
          </a:prstGeom>
        </p:spPr>
        <p:txBody>
          <a:bodyPr vert="horz" lIns="91440" tIns="45720" rIns="91440" bIns="45720" rtlCol="0" anchor="ctr"/>
          <a:lstStyle>
            <a:lvl1pPr algn="l">
              <a:defRPr sz="5669">
                <a:solidFill>
                  <a:schemeClr val="tx1">
                    <a:tint val="75000"/>
                  </a:schemeClr>
                </a:solidFill>
              </a:defRPr>
            </a:lvl1pPr>
          </a:lstStyle>
          <a:p>
            <a:fld id="{F714AE1A-0DF6-4CC2-9F1C-1479A0385F19}" type="datetimeFigureOut">
              <a:rPr lang="es-ES" smtClean="0"/>
              <a:t>01/10/2025</a:t>
            </a:fld>
            <a:endParaRPr lang="es-ES"/>
          </a:p>
        </p:txBody>
      </p:sp>
      <p:sp>
        <p:nvSpPr>
          <p:cNvPr id="5" name="Footer Placeholder 4"/>
          <p:cNvSpPr>
            <a:spLocks noGrp="1"/>
          </p:cNvSpPr>
          <p:nvPr>
            <p:ph type="ftr" sz="quarter" idx="3"/>
          </p:nvPr>
        </p:nvSpPr>
        <p:spPr>
          <a:xfrm>
            <a:off x="14310212" y="30029347"/>
            <a:ext cx="14580215" cy="1724962"/>
          </a:xfrm>
          <a:prstGeom prst="rect">
            <a:avLst/>
          </a:prstGeom>
        </p:spPr>
        <p:txBody>
          <a:bodyPr vert="horz" lIns="91440" tIns="45720" rIns="91440" bIns="45720" rtlCol="0" anchor="ctr"/>
          <a:lstStyle>
            <a:lvl1pPr algn="ctr">
              <a:defRPr sz="5669">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30510450" y="30029347"/>
            <a:ext cx="9720144" cy="1724962"/>
          </a:xfrm>
          <a:prstGeom prst="rect">
            <a:avLst/>
          </a:prstGeom>
        </p:spPr>
        <p:txBody>
          <a:bodyPr vert="horz" lIns="91440" tIns="45720" rIns="91440" bIns="45720" rtlCol="0" anchor="ctr"/>
          <a:lstStyle>
            <a:lvl1pPr algn="r">
              <a:defRPr sz="5669">
                <a:solidFill>
                  <a:schemeClr val="tx1">
                    <a:tint val="75000"/>
                  </a:schemeClr>
                </a:solidFill>
              </a:defRPr>
            </a:lvl1pPr>
          </a:lstStyle>
          <a:p>
            <a:fld id="{8C377228-8ACF-48D5-B01C-9CCA05E5210D}" type="slidenum">
              <a:rPr lang="es-ES" smtClean="0"/>
              <a:t>‹Nº›</a:t>
            </a:fld>
            <a:endParaRPr lang="es-ES"/>
          </a:p>
        </p:txBody>
      </p:sp>
    </p:spTree>
    <p:extLst>
      <p:ext uri="{BB962C8B-B14F-4D97-AF65-F5344CB8AC3E}">
        <p14:creationId xmlns:p14="http://schemas.microsoft.com/office/powerpoint/2010/main" val="118237476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Lst>
  <p:txStyles>
    <p:titleStyle>
      <a:lvl1pPr algn="l" defTabSz="4319900" rtl="0" eaLnBrk="1" latinLnBrk="0" hangingPunct="1">
        <a:lnSpc>
          <a:spcPct val="90000"/>
        </a:lnSpc>
        <a:spcBef>
          <a:spcPct val="0"/>
        </a:spcBef>
        <a:buNone/>
        <a:defRPr sz="20787" kern="1200">
          <a:solidFill>
            <a:schemeClr val="tx1"/>
          </a:solidFill>
          <a:latin typeface="+mj-lt"/>
          <a:ea typeface="+mj-ea"/>
          <a:cs typeface="+mj-cs"/>
        </a:defRPr>
      </a:lvl1pPr>
    </p:titleStyle>
    <p:bodyStyle>
      <a:lvl1pPr marL="1079975" indent="-1079975" algn="l" defTabSz="4319900" rtl="0" eaLnBrk="1" latinLnBrk="0" hangingPunct="1">
        <a:lnSpc>
          <a:spcPct val="90000"/>
        </a:lnSpc>
        <a:spcBef>
          <a:spcPts val="4724"/>
        </a:spcBef>
        <a:buFont typeface="Arial" panose="020B0604020202020204" pitchFamily="34" charset="0"/>
        <a:buChar char="•"/>
        <a:defRPr sz="13228" kern="1200">
          <a:solidFill>
            <a:schemeClr val="tx1"/>
          </a:solidFill>
          <a:latin typeface="+mn-lt"/>
          <a:ea typeface="+mn-ea"/>
          <a:cs typeface="+mn-cs"/>
        </a:defRPr>
      </a:lvl1pPr>
      <a:lvl2pPr marL="3239925" indent="-1079975" algn="l" defTabSz="4319900" rtl="0" eaLnBrk="1" latinLnBrk="0" hangingPunct="1">
        <a:lnSpc>
          <a:spcPct val="90000"/>
        </a:lnSpc>
        <a:spcBef>
          <a:spcPts val="2362"/>
        </a:spcBef>
        <a:buFont typeface="Arial" panose="020B0604020202020204" pitchFamily="34" charset="0"/>
        <a:buChar char="•"/>
        <a:defRPr sz="11338" kern="1200">
          <a:solidFill>
            <a:schemeClr val="tx1"/>
          </a:solidFill>
          <a:latin typeface="+mn-lt"/>
          <a:ea typeface="+mn-ea"/>
          <a:cs typeface="+mn-cs"/>
        </a:defRPr>
      </a:lvl2pPr>
      <a:lvl3pPr marL="5399875" indent="-1079975" algn="l" defTabSz="4319900" rtl="0" eaLnBrk="1" latinLnBrk="0" hangingPunct="1">
        <a:lnSpc>
          <a:spcPct val="90000"/>
        </a:lnSpc>
        <a:spcBef>
          <a:spcPts val="2362"/>
        </a:spcBef>
        <a:buFont typeface="Arial" panose="020B0604020202020204" pitchFamily="34" charset="0"/>
        <a:buChar char="•"/>
        <a:defRPr sz="9449" kern="1200">
          <a:solidFill>
            <a:schemeClr val="tx1"/>
          </a:solidFill>
          <a:latin typeface="+mn-lt"/>
          <a:ea typeface="+mn-ea"/>
          <a:cs typeface="+mn-cs"/>
        </a:defRPr>
      </a:lvl3pPr>
      <a:lvl4pPr marL="7559825" indent="-1079975" algn="l" defTabSz="4319900" rtl="0" eaLnBrk="1" latinLnBrk="0" hangingPunct="1">
        <a:lnSpc>
          <a:spcPct val="90000"/>
        </a:lnSpc>
        <a:spcBef>
          <a:spcPts val="2362"/>
        </a:spcBef>
        <a:buFont typeface="Arial" panose="020B0604020202020204" pitchFamily="34" charset="0"/>
        <a:buChar char="•"/>
        <a:defRPr sz="8504" kern="1200">
          <a:solidFill>
            <a:schemeClr val="tx1"/>
          </a:solidFill>
          <a:latin typeface="+mn-lt"/>
          <a:ea typeface="+mn-ea"/>
          <a:cs typeface="+mn-cs"/>
        </a:defRPr>
      </a:lvl4pPr>
      <a:lvl5pPr marL="9719775" indent="-1079975" algn="l" defTabSz="4319900" rtl="0" eaLnBrk="1" latinLnBrk="0" hangingPunct="1">
        <a:lnSpc>
          <a:spcPct val="90000"/>
        </a:lnSpc>
        <a:spcBef>
          <a:spcPts val="2362"/>
        </a:spcBef>
        <a:buFont typeface="Arial" panose="020B0604020202020204" pitchFamily="34" charset="0"/>
        <a:buChar char="•"/>
        <a:defRPr sz="8504" kern="1200">
          <a:solidFill>
            <a:schemeClr val="tx1"/>
          </a:solidFill>
          <a:latin typeface="+mn-lt"/>
          <a:ea typeface="+mn-ea"/>
          <a:cs typeface="+mn-cs"/>
        </a:defRPr>
      </a:lvl5pPr>
      <a:lvl6pPr marL="11879725" indent="-1079975" algn="l" defTabSz="4319900" rtl="0" eaLnBrk="1" latinLnBrk="0" hangingPunct="1">
        <a:lnSpc>
          <a:spcPct val="90000"/>
        </a:lnSpc>
        <a:spcBef>
          <a:spcPts val="2362"/>
        </a:spcBef>
        <a:buFont typeface="Arial" panose="020B0604020202020204" pitchFamily="34" charset="0"/>
        <a:buChar char="•"/>
        <a:defRPr sz="8504" kern="1200">
          <a:solidFill>
            <a:schemeClr val="tx1"/>
          </a:solidFill>
          <a:latin typeface="+mn-lt"/>
          <a:ea typeface="+mn-ea"/>
          <a:cs typeface="+mn-cs"/>
        </a:defRPr>
      </a:lvl6pPr>
      <a:lvl7pPr marL="14039675" indent="-1079975" algn="l" defTabSz="4319900" rtl="0" eaLnBrk="1" latinLnBrk="0" hangingPunct="1">
        <a:lnSpc>
          <a:spcPct val="90000"/>
        </a:lnSpc>
        <a:spcBef>
          <a:spcPts val="2362"/>
        </a:spcBef>
        <a:buFont typeface="Arial" panose="020B0604020202020204" pitchFamily="34" charset="0"/>
        <a:buChar char="•"/>
        <a:defRPr sz="8504" kern="1200">
          <a:solidFill>
            <a:schemeClr val="tx1"/>
          </a:solidFill>
          <a:latin typeface="+mn-lt"/>
          <a:ea typeface="+mn-ea"/>
          <a:cs typeface="+mn-cs"/>
        </a:defRPr>
      </a:lvl7pPr>
      <a:lvl8pPr marL="16199625" indent="-1079975" algn="l" defTabSz="4319900" rtl="0" eaLnBrk="1" latinLnBrk="0" hangingPunct="1">
        <a:lnSpc>
          <a:spcPct val="90000"/>
        </a:lnSpc>
        <a:spcBef>
          <a:spcPts val="2362"/>
        </a:spcBef>
        <a:buFont typeface="Arial" panose="020B0604020202020204" pitchFamily="34" charset="0"/>
        <a:buChar char="•"/>
        <a:defRPr sz="8504" kern="1200">
          <a:solidFill>
            <a:schemeClr val="tx1"/>
          </a:solidFill>
          <a:latin typeface="+mn-lt"/>
          <a:ea typeface="+mn-ea"/>
          <a:cs typeface="+mn-cs"/>
        </a:defRPr>
      </a:lvl8pPr>
      <a:lvl9pPr marL="18359575" indent="-1079975" algn="l" defTabSz="4319900" rtl="0" eaLnBrk="1" latinLnBrk="0" hangingPunct="1">
        <a:lnSpc>
          <a:spcPct val="90000"/>
        </a:lnSpc>
        <a:spcBef>
          <a:spcPts val="2362"/>
        </a:spcBef>
        <a:buFont typeface="Arial" panose="020B0604020202020204" pitchFamily="34" charset="0"/>
        <a:buChar char="•"/>
        <a:defRPr sz="8504" kern="1200">
          <a:solidFill>
            <a:schemeClr val="tx1"/>
          </a:solidFill>
          <a:latin typeface="+mn-lt"/>
          <a:ea typeface="+mn-ea"/>
          <a:cs typeface="+mn-cs"/>
        </a:defRPr>
      </a:lvl9pPr>
    </p:bodyStyle>
    <p:otherStyle>
      <a:defPPr>
        <a:defRPr lang="en-US"/>
      </a:defPPr>
      <a:lvl1pPr marL="0" algn="l" defTabSz="4319900" rtl="0" eaLnBrk="1" latinLnBrk="0" hangingPunct="1">
        <a:defRPr sz="8504" kern="1200">
          <a:solidFill>
            <a:schemeClr val="tx1"/>
          </a:solidFill>
          <a:latin typeface="+mn-lt"/>
          <a:ea typeface="+mn-ea"/>
          <a:cs typeface="+mn-cs"/>
        </a:defRPr>
      </a:lvl1pPr>
      <a:lvl2pPr marL="2159950" algn="l" defTabSz="4319900" rtl="0" eaLnBrk="1" latinLnBrk="0" hangingPunct="1">
        <a:defRPr sz="8504" kern="1200">
          <a:solidFill>
            <a:schemeClr val="tx1"/>
          </a:solidFill>
          <a:latin typeface="+mn-lt"/>
          <a:ea typeface="+mn-ea"/>
          <a:cs typeface="+mn-cs"/>
        </a:defRPr>
      </a:lvl2pPr>
      <a:lvl3pPr marL="4319900" algn="l" defTabSz="4319900" rtl="0" eaLnBrk="1" latinLnBrk="0" hangingPunct="1">
        <a:defRPr sz="8504" kern="1200">
          <a:solidFill>
            <a:schemeClr val="tx1"/>
          </a:solidFill>
          <a:latin typeface="+mn-lt"/>
          <a:ea typeface="+mn-ea"/>
          <a:cs typeface="+mn-cs"/>
        </a:defRPr>
      </a:lvl3pPr>
      <a:lvl4pPr marL="6479850" algn="l" defTabSz="4319900" rtl="0" eaLnBrk="1" latinLnBrk="0" hangingPunct="1">
        <a:defRPr sz="8504" kern="1200">
          <a:solidFill>
            <a:schemeClr val="tx1"/>
          </a:solidFill>
          <a:latin typeface="+mn-lt"/>
          <a:ea typeface="+mn-ea"/>
          <a:cs typeface="+mn-cs"/>
        </a:defRPr>
      </a:lvl4pPr>
      <a:lvl5pPr marL="8639800" algn="l" defTabSz="4319900" rtl="0" eaLnBrk="1" latinLnBrk="0" hangingPunct="1">
        <a:defRPr sz="8504" kern="1200">
          <a:solidFill>
            <a:schemeClr val="tx1"/>
          </a:solidFill>
          <a:latin typeface="+mn-lt"/>
          <a:ea typeface="+mn-ea"/>
          <a:cs typeface="+mn-cs"/>
        </a:defRPr>
      </a:lvl5pPr>
      <a:lvl6pPr marL="10799750" algn="l" defTabSz="4319900" rtl="0" eaLnBrk="1" latinLnBrk="0" hangingPunct="1">
        <a:defRPr sz="8504" kern="1200">
          <a:solidFill>
            <a:schemeClr val="tx1"/>
          </a:solidFill>
          <a:latin typeface="+mn-lt"/>
          <a:ea typeface="+mn-ea"/>
          <a:cs typeface="+mn-cs"/>
        </a:defRPr>
      </a:lvl6pPr>
      <a:lvl7pPr marL="12959700" algn="l" defTabSz="4319900" rtl="0" eaLnBrk="1" latinLnBrk="0" hangingPunct="1">
        <a:defRPr sz="8504" kern="1200">
          <a:solidFill>
            <a:schemeClr val="tx1"/>
          </a:solidFill>
          <a:latin typeface="+mn-lt"/>
          <a:ea typeface="+mn-ea"/>
          <a:cs typeface="+mn-cs"/>
        </a:defRPr>
      </a:lvl7pPr>
      <a:lvl8pPr marL="15119650" algn="l" defTabSz="4319900" rtl="0" eaLnBrk="1" latinLnBrk="0" hangingPunct="1">
        <a:defRPr sz="8504" kern="1200">
          <a:solidFill>
            <a:schemeClr val="tx1"/>
          </a:solidFill>
          <a:latin typeface="+mn-lt"/>
          <a:ea typeface="+mn-ea"/>
          <a:cs typeface="+mn-cs"/>
        </a:defRPr>
      </a:lvl8pPr>
      <a:lvl9pPr marL="17279600" algn="l" defTabSz="4319900" rtl="0" eaLnBrk="1" latinLnBrk="0" hangingPunct="1">
        <a:defRPr sz="850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6.jpg"/><Relationship Id="rId2" Type="http://schemas.microsoft.com/office/2018/10/relationships/comments" Target="../comments/modernComment_100_4455FA30.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Diagrama&#10;&#10;Descripción generada automáticamente">
            <a:extLst>
              <a:ext uri="{FF2B5EF4-FFF2-40B4-BE49-F238E27FC236}">
                <a16:creationId xmlns:a16="http://schemas.microsoft.com/office/drawing/2014/main" id="{6BBD8646-E1E1-879A-7744-CAD0EA899F23}"/>
              </a:ext>
            </a:extLst>
          </p:cNvPr>
          <p:cNvPicPr>
            <a:picLocks noChangeAspect="1"/>
          </p:cNvPicPr>
          <p:nvPr/>
        </p:nvPicPr>
        <p:blipFill rotWithShape="1">
          <a:blip r:embed="rId3">
            <a:extLst>
              <a:ext uri="{28A0092B-C50C-407E-A947-70E740481C1C}">
                <a14:useLocalDpi xmlns:a14="http://schemas.microsoft.com/office/drawing/2010/main" val="0"/>
              </a:ext>
            </a:extLst>
          </a:blip>
          <a:srcRect b="11267"/>
          <a:stretch/>
        </p:blipFill>
        <p:spPr bwMode="auto">
          <a:xfrm>
            <a:off x="15640078" y="12144232"/>
            <a:ext cx="8068225" cy="3329205"/>
          </a:xfrm>
          <a:prstGeom prst="rect">
            <a:avLst/>
          </a:prstGeom>
          <a:ln>
            <a:noFill/>
          </a:ln>
          <a:extLst>
            <a:ext uri="{53640926-AAD7-44D8-BBD7-CCE9431645EC}">
              <a14:shadowObscured xmlns:a14="http://schemas.microsoft.com/office/drawing/2010/main"/>
            </a:ext>
          </a:extLst>
        </p:spPr>
      </p:pic>
      <p:sp>
        <p:nvSpPr>
          <p:cNvPr id="18" name="Rectángulo 17">
            <a:extLst>
              <a:ext uri="{FF2B5EF4-FFF2-40B4-BE49-F238E27FC236}">
                <a16:creationId xmlns:a16="http://schemas.microsoft.com/office/drawing/2014/main" id="{82ED4B5E-0877-4C2C-913A-AE230BFEDCFC}"/>
              </a:ext>
            </a:extLst>
          </p:cNvPr>
          <p:cNvSpPr/>
          <p:nvPr/>
        </p:nvSpPr>
        <p:spPr>
          <a:xfrm>
            <a:off x="15480000" y="27899556"/>
            <a:ext cx="18828000" cy="3309313"/>
          </a:xfrm>
          <a:prstGeom prst="rect">
            <a:avLst/>
          </a:prstGeom>
          <a:solidFill>
            <a:schemeClr val="bg1"/>
          </a:solidFill>
          <a:ln w="76200">
            <a:solidFill>
              <a:srgbClr val="234A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AutoNum type="arabicPeriod"/>
            </a:pPr>
            <a:endParaRPr lang="en-US" sz="2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sz="2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marL="457200" indent="-457200">
              <a:buAutoNum type="arabicPeriod"/>
            </a:pPr>
            <a:r>
              <a:rPr lang="en-US" sz="2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Kelley CF, Acevedo-Quiñones M, Agwu AL, </a:t>
            </a:r>
            <a:r>
              <a:rPr lang="en-US" sz="2400" i="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et al.</a:t>
            </a:r>
            <a:r>
              <a:rPr lang="en-US" sz="2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Twice-Yearly </a:t>
            </a:r>
            <a:r>
              <a:rPr lang="en-US" sz="2400" dirty="0" err="1">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Lenacapavir</a:t>
            </a:r>
            <a:r>
              <a:rPr lang="en-US" sz="2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for HIV Prevention in Men and Gender-Diverse Persons. </a:t>
            </a:r>
            <a:r>
              <a:rPr lang="en-US" sz="2400" i="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N Engl J Med</a:t>
            </a:r>
            <a:r>
              <a:rPr lang="en-US" sz="2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2024; published online Nov 27. DOI:10.1056/NEJMOA2411858.</a:t>
            </a:r>
          </a:p>
          <a:p>
            <a:pPr marL="457200" indent="-457200">
              <a:buFontTx/>
              <a:buAutoNum type="arabicPeriod"/>
            </a:pPr>
            <a:r>
              <a:rPr lang="es-ES" sz="2400" dirty="0">
                <a:solidFill>
                  <a:schemeClr val="tx1"/>
                </a:solidFill>
              </a:rPr>
              <a:t>GESIDA. Recomendaciones sobre la Profilaxis Pre-Exposición para la Prevención de la Infección por VIH en España. 2023; : 1–67.</a:t>
            </a:r>
          </a:p>
          <a:p>
            <a:pPr marL="457200" indent="-457200">
              <a:buFontTx/>
              <a:buAutoNum type="arabicPeriod"/>
            </a:pPr>
            <a:r>
              <a:rPr lang="es-ES" sz="2400" dirty="0">
                <a:solidFill>
                  <a:schemeClr val="tx1"/>
                </a:solidFill>
              </a:rPr>
              <a:t>Wikman-Jorgensen PE, Ruiz-</a:t>
            </a:r>
            <a:r>
              <a:rPr lang="es-ES" sz="2400" dirty="0" err="1">
                <a:solidFill>
                  <a:schemeClr val="tx1"/>
                </a:solidFill>
              </a:rPr>
              <a:t>Algueró</a:t>
            </a:r>
            <a:r>
              <a:rPr lang="es-ES" sz="2400" dirty="0">
                <a:solidFill>
                  <a:schemeClr val="tx1"/>
                </a:solidFill>
              </a:rPr>
              <a:t> M, Iniesta C, Pulido F, Llenas-García J. </a:t>
            </a:r>
            <a:r>
              <a:rPr lang="es-ES" sz="2400" dirty="0" err="1">
                <a:solidFill>
                  <a:schemeClr val="tx1"/>
                </a:solidFill>
              </a:rPr>
              <a:t>Cost-effectiveness</a:t>
            </a:r>
            <a:r>
              <a:rPr lang="es-ES" sz="2400" dirty="0">
                <a:solidFill>
                  <a:schemeClr val="tx1"/>
                </a:solidFill>
              </a:rPr>
              <a:t> </a:t>
            </a:r>
            <a:r>
              <a:rPr lang="es-ES" sz="2400" dirty="0" err="1">
                <a:solidFill>
                  <a:schemeClr val="tx1"/>
                </a:solidFill>
              </a:rPr>
              <a:t>of</a:t>
            </a:r>
            <a:r>
              <a:rPr lang="es-ES" sz="2400" dirty="0">
                <a:solidFill>
                  <a:schemeClr val="tx1"/>
                </a:solidFill>
              </a:rPr>
              <a:t> </a:t>
            </a:r>
            <a:r>
              <a:rPr lang="es-ES" sz="2400" dirty="0" err="1">
                <a:solidFill>
                  <a:schemeClr val="tx1"/>
                </a:solidFill>
              </a:rPr>
              <a:t>cabotegravir</a:t>
            </a:r>
            <a:r>
              <a:rPr lang="es-ES" sz="2400" dirty="0">
                <a:solidFill>
                  <a:schemeClr val="tx1"/>
                </a:solidFill>
              </a:rPr>
              <a:t> versus </a:t>
            </a:r>
            <a:r>
              <a:rPr lang="es-ES" sz="2400" dirty="0" err="1">
                <a:solidFill>
                  <a:schemeClr val="tx1"/>
                </a:solidFill>
              </a:rPr>
              <a:t>tenofovir</a:t>
            </a:r>
            <a:r>
              <a:rPr lang="es-ES" sz="2400" dirty="0">
                <a:solidFill>
                  <a:schemeClr val="tx1"/>
                </a:solidFill>
              </a:rPr>
              <a:t> </a:t>
            </a:r>
            <a:r>
              <a:rPr lang="es-ES" sz="2400" dirty="0" err="1">
                <a:solidFill>
                  <a:schemeClr val="tx1"/>
                </a:solidFill>
              </a:rPr>
              <a:t>alafenamide</a:t>
            </a:r>
            <a:r>
              <a:rPr lang="es-ES" sz="2400" dirty="0">
                <a:solidFill>
                  <a:schemeClr val="tx1"/>
                </a:solidFill>
              </a:rPr>
              <a:t> plus </a:t>
            </a:r>
            <a:r>
              <a:rPr lang="es-ES" sz="2400" dirty="0" err="1">
                <a:solidFill>
                  <a:schemeClr val="tx1"/>
                </a:solidFill>
              </a:rPr>
              <a:t>emtricitabine</a:t>
            </a:r>
            <a:r>
              <a:rPr lang="es-ES" sz="2400" dirty="0">
                <a:solidFill>
                  <a:schemeClr val="tx1"/>
                </a:solidFill>
              </a:rPr>
              <a:t> versus </a:t>
            </a:r>
            <a:r>
              <a:rPr lang="es-ES" sz="2400" dirty="0" err="1">
                <a:solidFill>
                  <a:schemeClr val="tx1"/>
                </a:solidFill>
              </a:rPr>
              <a:t>tenofovir</a:t>
            </a:r>
            <a:r>
              <a:rPr lang="es-ES" sz="2400" dirty="0">
                <a:solidFill>
                  <a:schemeClr val="tx1"/>
                </a:solidFill>
              </a:rPr>
              <a:t> </a:t>
            </a:r>
            <a:r>
              <a:rPr lang="es-ES" sz="2400" dirty="0" err="1">
                <a:solidFill>
                  <a:schemeClr val="tx1"/>
                </a:solidFill>
              </a:rPr>
              <a:t>disoproxil</a:t>
            </a:r>
            <a:r>
              <a:rPr lang="es-ES" sz="2400" dirty="0">
                <a:solidFill>
                  <a:schemeClr val="tx1"/>
                </a:solidFill>
              </a:rPr>
              <a:t> </a:t>
            </a:r>
            <a:r>
              <a:rPr lang="es-ES" sz="2400" dirty="0" err="1">
                <a:solidFill>
                  <a:schemeClr val="tx1"/>
                </a:solidFill>
              </a:rPr>
              <a:t>fumarate</a:t>
            </a:r>
            <a:r>
              <a:rPr lang="es-ES" sz="2400" dirty="0">
                <a:solidFill>
                  <a:schemeClr val="tx1"/>
                </a:solidFill>
              </a:rPr>
              <a:t> plus </a:t>
            </a:r>
            <a:r>
              <a:rPr lang="es-ES" sz="2400" dirty="0" err="1">
                <a:solidFill>
                  <a:schemeClr val="tx1"/>
                </a:solidFill>
              </a:rPr>
              <a:t>emtricitabine</a:t>
            </a:r>
            <a:r>
              <a:rPr lang="es-ES" sz="2400" dirty="0">
                <a:solidFill>
                  <a:schemeClr val="tx1"/>
                </a:solidFill>
              </a:rPr>
              <a:t> </a:t>
            </a:r>
            <a:r>
              <a:rPr lang="es-ES" sz="2400" dirty="0" err="1">
                <a:solidFill>
                  <a:schemeClr val="tx1"/>
                </a:solidFill>
              </a:rPr>
              <a:t>for</a:t>
            </a:r>
            <a:r>
              <a:rPr lang="es-ES" sz="2400" dirty="0">
                <a:solidFill>
                  <a:schemeClr val="tx1"/>
                </a:solidFill>
              </a:rPr>
              <a:t> </a:t>
            </a:r>
            <a:r>
              <a:rPr lang="es-ES" sz="2400" dirty="0" err="1">
                <a:solidFill>
                  <a:schemeClr val="tx1"/>
                </a:solidFill>
              </a:rPr>
              <a:t>pre-exposure</a:t>
            </a:r>
            <a:r>
              <a:rPr lang="es-ES" sz="2400" dirty="0">
                <a:solidFill>
                  <a:schemeClr val="tx1"/>
                </a:solidFill>
              </a:rPr>
              <a:t> </a:t>
            </a:r>
            <a:r>
              <a:rPr lang="es-ES" sz="2400" dirty="0" err="1">
                <a:solidFill>
                  <a:schemeClr val="tx1"/>
                </a:solidFill>
              </a:rPr>
              <a:t>prophylaxis</a:t>
            </a:r>
            <a:r>
              <a:rPr lang="es-ES" sz="2400" dirty="0">
                <a:solidFill>
                  <a:schemeClr val="tx1"/>
                </a:solidFill>
              </a:rPr>
              <a:t> </a:t>
            </a:r>
            <a:r>
              <a:rPr lang="es-ES" sz="2400" dirty="0" err="1">
                <a:solidFill>
                  <a:schemeClr val="tx1"/>
                </a:solidFill>
              </a:rPr>
              <a:t>to</a:t>
            </a:r>
            <a:r>
              <a:rPr lang="es-ES" sz="2400" dirty="0">
                <a:solidFill>
                  <a:schemeClr val="tx1"/>
                </a:solidFill>
              </a:rPr>
              <a:t> </a:t>
            </a:r>
            <a:r>
              <a:rPr lang="es-ES" sz="2400" dirty="0" err="1">
                <a:solidFill>
                  <a:schemeClr val="tx1"/>
                </a:solidFill>
              </a:rPr>
              <a:t>prevent</a:t>
            </a:r>
            <a:r>
              <a:rPr lang="es-ES" sz="2400" dirty="0">
                <a:solidFill>
                  <a:schemeClr val="tx1"/>
                </a:solidFill>
              </a:rPr>
              <a:t> HIV-1 </a:t>
            </a:r>
            <a:r>
              <a:rPr lang="es-ES" sz="2400" dirty="0" err="1">
                <a:solidFill>
                  <a:schemeClr val="tx1"/>
                </a:solidFill>
              </a:rPr>
              <a:t>transmission</a:t>
            </a:r>
            <a:r>
              <a:rPr lang="es-ES" sz="2400" dirty="0">
                <a:solidFill>
                  <a:schemeClr val="tx1"/>
                </a:solidFill>
              </a:rPr>
              <a:t> in gay, bisexual and </a:t>
            </a:r>
            <a:r>
              <a:rPr lang="es-ES" sz="2400" dirty="0" err="1">
                <a:solidFill>
                  <a:schemeClr val="tx1"/>
                </a:solidFill>
              </a:rPr>
              <a:t>other</a:t>
            </a:r>
            <a:r>
              <a:rPr lang="es-ES" sz="2400" dirty="0">
                <a:solidFill>
                  <a:schemeClr val="tx1"/>
                </a:solidFill>
              </a:rPr>
              <a:t> </a:t>
            </a:r>
            <a:r>
              <a:rPr lang="es-ES" sz="2400" dirty="0" err="1">
                <a:solidFill>
                  <a:schemeClr val="tx1"/>
                </a:solidFill>
              </a:rPr>
              <a:t>men</a:t>
            </a:r>
            <a:r>
              <a:rPr lang="es-ES" sz="2400" dirty="0">
                <a:solidFill>
                  <a:schemeClr val="tx1"/>
                </a:solidFill>
              </a:rPr>
              <a:t> </a:t>
            </a:r>
            <a:r>
              <a:rPr lang="es-ES" sz="2400" dirty="0" err="1">
                <a:solidFill>
                  <a:schemeClr val="tx1"/>
                </a:solidFill>
              </a:rPr>
              <a:t>that</a:t>
            </a:r>
            <a:r>
              <a:rPr lang="es-ES" sz="2400" dirty="0">
                <a:solidFill>
                  <a:schemeClr val="tx1"/>
                </a:solidFill>
              </a:rPr>
              <a:t> </a:t>
            </a:r>
            <a:r>
              <a:rPr lang="es-ES" sz="2400" dirty="0" err="1">
                <a:solidFill>
                  <a:schemeClr val="tx1"/>
                </a:solidFill>
              </a:rPr>
              <a:t>have</a:t>
            </a:r>
            <a:r>
              <a:rPr lang="es-ES" sz="2400" dirty="0">
                <a:solidFill>
                  <a:schemeClr val="tx1"/>
                </a:solidFill>
              </a:rPr>
              <a:t> sex </a:t>
            </a:r>
            <a:r>
              <a:rPr lang="es-ES" sz="2400" dirty="0" err="1">
                <a:solidFill>
                  <a:schemeClr val="tx1"/>
                </a:solidFill>
              </a:rPr>
              <a:t>with</a:t>
            </a:r>
            <a:r>
              <a:rPr lang="es-ES" sz="2400" dirty="0">
                <a:solidFill>
                  <a:schemeClr val="tx1"/>
                </a:solidFill>
              </a:rPr>
              <a:t> </a:t>
            </a:r>
            <a:r>
              <a:rPr lang="es-ES" sz="2400" dirty="0" err="1">
                <a:solidFill>
                  <a:schemeClr val="tx1"/>
                </a:solidFill>
              </a:rPr>
              <a:t>men</a:t>
            </a:r>
            <a:r>
              <a:rPr lang="es-ES" sz="2400" dirty="0">
                <a:solidFill>
                  <a:schemeClr val="tx1"/>
                </a:solidFill>
              </a:rPr>
              <a:t>. </a:t>
            </a:r>
            <a:r>
              <a:rPr lang="es-ES" sz="2400" dirty="0" err="1">
                <a:solidFill>
                  <a:schemeClr val="tx1"/>
                </a:solidFill>
              </a:rPr>
              <a:t>Enferm</a:t>
            </a:r>
            <a:r>
              <a:rPr lang="es-ES" sz="2400" dirty="0">
                <a:solidFill>
                  <a:schemeClr val="tx1"/>
                </a:solidFill>
              </a:rPr>
              <a:t> </a:t>
            </a:r>
            <a:r>
              <a:rPr lang="es-ES" sz="2400" dirty="0" err="1">
                <a:solidFill>
                  <a:schemeClr val="tx1"/>
                </a:solidFill>
              </a:rPr>
              <a:t>Infecc</a:t>
            </a:r>
            <a:r>
              <a:rPr lang="es-ES" sz="2400" dirty="0">
                <a:solidFill>
                  <a:schemeClr val="tx1"/>
                </a:solidFill>
              </a:rPr>
              <a:t> </a:t>
            </a:r>
            <a:r>
              <a:rPr lang="es-ES" sz="2400" dirty="0" err="1">
                <a:solidFill>
                  <a:schemeClr val="tx1"/>
                </a:solidFill>
              </a:rPr>
              <a:t>Microbiol</a:t>
            </a:r>
            <a:r>
              <a:rPr lang="es-ES" sz="2400" dirty="0">
                <a:solidFill>
                  <a:schemeClr val="tx1"/>
                </a:solidFill>
              </a:rPr>
              <a:t> Clin (Engl Ed). 2025 Aug-Sep;43(7):416-425. </a:t>
            </a:r>
            <a:r>
              <a:rPr lang="es-ES" sz="2400" dirty="0" err="1">
                <a:solidFill>
                  <a:schemeClr val="tx1"/>
                </a:solidFill>
              </a:rPr>
              <a:t>doi</a:t>
            </a:r>
            <a:r>
              <a:rPr lang="es-ES" sz="2400" dirty="0">
                <a:solidFill>
                  <a:schemeClr val="tx1"/>
                </a:solidFill>
              </a:rPr>
              <a:t>: 10.1016/j.eimce.2024.12.014. </a:t>
            </a:r>
            <a:r>
              <a:rPr lang="es-ES" sz="2400" dirty="0" err="1">
                <a:solidFill>
                  <a:schemeClr val="tx1"/>
                </a:solidFill>
              </a:rPr>
              <a:t>Epub</a:t>
            </a:r>
            <a:r>
              <a:rPr lang="es-ES" sz="2400" dirty="0">
                <a:solidFill>
                  <a:schemeClr val="tx1"/>
                </a:solidFill>
              </a:rPr>
              <a:t> 2025 May 22. PMID: 40410032.</a:t>
            </a:r>
          </a:p>
          <a:p>
            <a:pPr marL="457200" indent="-457200">
              <a:buAutoNum type="arabicPeriod"/>
            </a:pPr>
            <a:endParaRPr lang="es-ES" sz="2400" dirty="0">
              <a:solidFill>
                <a:schemeClr val="tx1"/>
              </a:solidFill>
            </a:endParaRPr>
          </a:p>
        </p:txBody>
      </p:sp>
      <p:sp>
        <p:nvSpPr>
          <p:cNvPr id="39" name="Rectángulo 38">
            <a:extLst>
              <a:ext uri="{FF2B5EF4-FFF2-40B4-BE49-F238E27FC236}">
                <a16:creationId xmlns:a16="http://schemas.microsoft.com/office/drawing/2014/main" id="{85D7A6DE-BCD9-4C45-A4F8-ED28ADF26EC2}"/>
              </a:ext>
            </a:extLst>
          </p:cNvPr>
          <p:cNvSpPr/>
          <p:nvPr/>
        </p:nvSpPr>
        <p:spPr>
          <a:xfrm>
            <a:off x="21600319" y="21700119"/>
            <a:ext cx="4040724" cy="461665"/>
          </a:xfrm>
          <a:prstGeom prst="rect">
            <a:avLst/>
          </a:prstGeom>
        </p:spPr>
        <p:txBody>
          <a:bodyPr wrap="square">
            <a:spAutoFit/>
          </a:bodyPr>
          <a:lstStyle/>
          <a:p>
            <a:endParaRPr lang="en-CA" sz="2400" i="1" dirty="0">
              <a:solidFill>
                <a:schemeClr val="bg2">
                  <a:lumMod val="25000"/>
                </a:schemeClr>
              </a:solidFill>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337DA1C6-B926-49D7-B2DC-33EFE40B91C1}"/>
              </a:ext>
            </a:extLst>
          </p:cNvPr>
          <p:cNvSpPr/>
          <p:nvPr/>
        </p:nvSpPr>
        <p:spPr>
          <a:xfrm>
            <a:off x="899998" y="13376971"/>
            <a:ext cx="14364000" cy="14343352"/>
          </a:xfrm>
          <a:prstGeom prst="rect">
            <a:avLst/>
          </a:prstGeom>
          <a:solidFill>
            <a:schemeClr val="bg1"/>
          </a:solidFill>
          <a:ln w="76200">
            <a:solidFill>
              <a:srgbClr val="234A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157"/>
          </a:p>
        </p:txBody>
      </p:sp>
      <p:sp>
        <p:nvSpPr>
          <p:cNvPr id="31" name="Rectángulo 30">
            <a:extLst>
              <a:ext uri="{FF2B5EF4-FFF2-40B4-BE49-F238E27FC236}">
                <a16:creationId xmlns:a16="http://schemas.microsoft.com/office/drawing/2014/main" id="{855415EB-D59B-4023-84B0-4E721EE62224}"/>
              </a:ext>
            </a:extLst>
          </p:cNvPr>
          <p:cNvSpPr/>
          <p:nvPr/>
        </p:nvSpPr>
        <p:spPr>
          <a:xfrm>
            <a:off x="1369606" y="14368872"/>
            <a:ext cx="13672759" cy="13018949"/>
          </a:xfrm>
          <a:prstGeom prst="rect">
            <a:avLst/>
          </a:prstGeom>
        </p:spPr>
        <p:txBody>
          <a:bodyPr wrap="square">
            <a:spAutoFit/>
          </a:bodyPr>
          <a:lstStyle/>
          <a:p>
            <a:r>
              <a:rPr lang="en-US" sz="2800" b="1" i="1" dirty="0"/>
              <a:t>Target population, setting and interventions</a:t>
            </a:r>
            <a:endParaRPr lang="es-ES" sz="2800" b="1" i="1" dirty="0"/>
          </a:p>
          <a:p>
            <a:r>
              <a:rPr lang="en-US" sz="2800" dirty="0"/>
              <a:t>The target population were GBMSM 16 years or older receiving care in the Spanish National Healthcare System. Baseline scenario was 2023 with a </a:t>
            </a:r>
            <a:r>
              <a:rPr lang="en-US" sz="2800" dirty="0" err="1"/>
              <a:t>PrEP</a:t>
            </a:r>
            <a:r>
              <a:rPr lang="en-US" sz="2800" dirty="0"/>
              <a:t> program in place consisting in daily TDF/FTC. We evaluated the implementation LEN injected subcutaneously every 6 months. In each case, we considered that patients underwent regular follow-ups, as per the Spanish Infectious Diseases Society guidelines.</a:t>
            </a:r>
            <a:r>
              <a:rPr lang="en-US" sz="2800" baseline="30000" dirty="0"/>
              <a:t>2</a:t>
            </a:r>
            <a:endParaRPr lang="es-ES" sz="2800" dirty="0"/>
          </a:p>
          <a:p>
            <a:r>
              <a:rPr lang="en-US" sz="2800" b="1" i="1" dirty="0"/>
              <a:t>Model development</a:t>
            </a:r>
            <a:endParaRPr lang="es-ES" sz="2800" b="1" i="1" dirty="0"/>
          </a:p>
          <a:p>
            <a:r>
              <a:rPr lang="en-US" sz="2800" dirty="0"/>
              <a:t>A stochastic, dynamic, transmission Markov chain model was developed and calibrated to replicate the results of the HIV epidemic in Spain in accordance with a previous study.</a:t>
            </a:r>
            <a:r>
              <a:rPr lang="en-US" sz="2800" baseline="30000" dirty="0"/>
              <a:t>3</a:t>
            </a:r>
            <a:r>
              <a:rPr lang="en-US" sz="2800" dirty="0"/>
              <a:t> The model (Fig. 1) represents the current estimated population of GBMSM. Probabilities of transitioning from one state to another are governed by the parameters presented in table 1. The model was stratified by age group and by sexual activity risk groups. A time horizon of 20 years was chosen. Model parameters were obtained from published studies, systematic reviews and meta-analyses, and expert consultation. For calibration, the model parameters were given a probability distribution, and the model was run 100,000 times. The set of parameters with the best fit was the final set of parameters used. Analyses were undertaken using </a:t>
            </a:r>
            <a:r>
              <a:rPr lang="en-GB" sz="2800" dirty="0"/>
              <a:t>R.</a:t>
            </a:r>
            <a:endParaRPr lang="es-ES" sz="2800" dirty="0"/>
          </a:p>
          <a:p>
            <a:r>
              <a:rPr lang="en-US" sz="2800" b="1" i="1" dirty="0"/>
              <a:t>Cost evaluation and Health outcomes</a:t>
            </a:r>
            <a:endParaRPr lang="es-ES" sz="2800" b="1" i="1" dirty="0"/>
          </a:p>
          <a:p>
            <a:r>
              <a:rPr lang="en-US" sz="2800" dirty="0"/>
              <a:t>We used a healthcare provider perspective. Costs are presented as 2023 euros (2023€) and were calculated with the model, depending on the population in each state at each time point. The model was used to obtain calculated quality-adjusted life years (QALYs) for each scenario.</a:t>
            </a:r>
            <a:endParaRPr lang="es-ES" sz="2800" dirty="0">
              <a:highlight>
                <a:srgbClr val="FFFF00"/>
              </a:highlight>
            </a:endParaRPr>
          </a:p>
          <a:p>
            <a:r>
              <a:rPr lang="en-US" sz="2800" b="1" i="1" dirty="0"/>
              <a:t>Cost-effectiveness evaluation</a:t>
            </a:r>
            <a:endParaRPr lang="es-ES" sz="2800" b="1" i="1" dirty="0"/>
          </a:p>
          <a:p>
            <a:r>
              <a:rPr lang="en-US" sz="2800" dirty="0"/>
              <a:t>We ranked interventions by effectiveness and then calculated incremental cost-effectiveness ratios (ICER) by comparing each intervention to its immediately less effective strategy. Effectiveness and costs were subject to an annual discount measure of 3%.</a:t>
            </a:r>
            <a:r>
              <a:rPr lang="es-ES" sz="2800" dirty="0"/>
              <a:t> </a:t>
            </a:r>
            <a:r>
              <a:rPr lang="en-US" sz="2800" dirty="0"/>
              <a:t>The willingness-to-pay (WTP) threshold used was the per capita gross domestic product of Spain in 2023 (2023 €33,895). </a:t>
            </a:r>
          </a:p>
          <a:p>
            <a:r>
              <a:rPr lang="en-US" sz="2800" b="1" i="1" dirty="0"/>
              <a:t>Sensitivity analysis</a:t>
            </a:r>
            <a:endParaRPr lang="es-ES" sz="2800" b="1" i="1" dirty="0"/>
          </a:p>
          <a:p>
            <a:r>
              <a:rPr lang="en-US" sz="2800" dirty="0"/>
              <a:t>A one-way sensitivity analysis and a probabilistic sensitivity analysis (PSA) were undertaken. </a:t>
            </a:r>
            <a:endParaRPr lang="es-ES" sz="2800" dirty="0"/>
          </a:p>
        </p:txBody>
      </p:sp>
      <p:sp>
        <p:nvSpPr>
          <p:cNvPr id="44" name="Text Box 2">
            <a:extLst>
              <a:ext uri="{FF2B5EF4-FFF2-40B4-BE49-F238E27FC236}">
                <a16:creationId xmlns:a16="http://schemas.microsoft.com/office/drawing/2014/main" id="{5DF5A792-B40B-4A29-B9E5-C0DD20185BF0}"/>
              </a:ext>
            </a:extLst>
          </p:cNvPr>
          <p:cNvSpPr txBox="1">
            <a:spLocks noChangeArrowheads="1"/>
          </p:cNvSpPr>
          <p:nvPr/>
        </p:nvSpPr>
        <p:spPr bwMode="auto">
          <a:xfrm>
            <a:off x="1050379" y="13733357"/>
            <a:ext cx="7545274" cy="617993"/>
          </a:xfrm>
          <a:prstGeom prst="rect">
            <a:avLst/>
          </a:prstGeom>
          <a:noFill/>
          <a:ln w="9525">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tx1">
                      <a:alpha val="74998"/>
                    </a:schemeClr>
                  </a:outerShdw>
                </a:effectLst>
              </a14:hiddenEffects>
            </a:ext>
          </a:extLst>
        </p:spPr>
        <p:txBody>
          <a:bodyPr lIns="409803" tIns="409803" rIns="409803" bIns="409803" anchor="ctr"/>
          <a:lstStyle>
            <a:lvl1pPr defTabSz="192088" eaLnBrk="0" hangingPunct="0">
              <a:defRPr sz="500">
                <a:solidFill>
                  <a:schemeClr val="tx1"/>
                </a:solidFill>
                <a:latin typeface="Times New Roman" charset="0"/>
                <a:ea typeface="ＭＳ Ｐゴシック" charset="0"/>
              </a:defRPr>
            </a:lvl1pPr>
            <a:lvl2pPr marL="742950" indent="-285750" defTabSz="192088" eaLnBrk="0" hangingPunct="0">
              <a:defRPr sz="500">
                <a:solidFill>
                  <a:schemeClr val="tx1"/>
                </a:solidFill>
                <a:latin typeface="Times New Roman" charset="0"/>
                <a:ea typeface="ＭＳ Ｐゴシック" charset="0"/>
              </a:defRPr>
            </a:lvl2pPr>
            <a:lvl3pPr marL="1143000" indent="-228600" defTabSz="192088" eaLnBrk="0" hangingPunct="0">
              <a:defRPr sz="500">
                <a:solidFill>
                  <a:schemeClr val="tx1"/>
                </a:solidFill>
                <a:latin typeface="Times New Roman" charset="0"/>
                <a:ea typeface="ＭＳ Ｐゴシック" charset="0"/>
              </a:defRPr>
            </a:lvl3pPr>
            <a:lvl4pPr marL="1600200" indent="-228600" defTabSz="192088" eaLnBrk="0" hangingPunct="0">
              <a:defRPr sz="500">
                <a:solidFill>
                  <a:schemeClr val="tx1"/>
                </a:solidFill>
                <a:latin typeface="Times New Roman" charset="0"/>
                <a:ea typeface="ＭＳ Ｐゴシック" charset="0"/>
              </a:defRPr>
            </a:lvl4pPr>
            <a:lvl5pPr marL="2057400" indent="-228600" defTabSz="192088" eaLnBrk="0" hangingPunct="0">
              <a:defRPr sz="500">
                <a:solidFill>
                  <a:schemeClr val="tx1"/>
                </a:solidFill>
                <a:latin typeface="Times New Roman" charset="0"/>
                <a:ea typeface="ＭＳ Ｐゴシック" charset="0"/>
              </a:defRPr>
            </a:lvl5pPr>
            <a:lvl6pPr marL="2514600" indent="-228600" defTabSz="192088" eaLnBrk="0" fontAlgn="base" hangingPunct="0">
              <a:spcBef>
                <a:spcPct val="0"/>
              </a:spcBef>
              <a:spcAft>
                <a:spcPct val="0"/>
              </a:spcAft>
              <a:defRPr sz="500">
                <a:solidFill>
                  <a:schemeClr val="tx1"/>
                </a:solidFill>
                <a:latin typeface="Times New Roman" charset="0"/>
                <a:ea typeface="ＭＳ Ｐゴシック" charset="0"/>
              </a:defRPr>
            </a:lvl6pPr>
            <a:lvl7pPr marL="2971800" indent="-228600" defTabSz="192088" eaLnBrk="0" fontAlgn="base" hangingPunct="0">
              <a:spcBef>
                <a:spcPct val="0"/>
              </a:spcBef>
              <a:spcAft>
                <a:spcPct val="0"/>
              </a:spcAft>
              <a:defRPr sz="500">
                <a:solidFill>
                  <a:schemeClr val="tx1"/>
                </a:solidFill>
                <a:latin typeface="Times New Roman" charset="0"/>
                <a:ea typeface="ＭＳ Ｐゴシック" charset="0"/>
              </a:defRPr>
            </a:lvl7pPr>
            <a:lvl8pPr marL="3429000" indent="-228600" defTabSz="192088" eaLnBrk="0" fontAlgn="base" hangingPunct="0">
              <a:spcBef>
                <a:spcPct val="0"/>
              </a:spcBef>
              <a:spcAft>
                <a:spcPct val="0"/>
              </a:spcAft>
              <a:defRPr sz="500">
                <a:solidFill>
                  <a:schemeClr val="tx1"/>
                </a:solidFill>
                <a:latin typeface="Times New Roman" charset="0"/>
                <a:ea typeface="ＭＳ Ｐゴシック" charset="0"/>
              </a:defRPr>
            </a:lvl8pPr>
            <a:lvl9pPr marL="3886200" indent="-228600" defTabSz="192088" eaLnBrk="0" fontAlgn="base" hangingPunct="0">
              <a:spcBef>
                <a:spcPct val="0"/>
              </a:spcBef>
              <a:spcAft>
                <a:spcPct val="0"/>
              </a:spcAft>
              <a:defRPr sz="500">
                <a:solidFill>
                  <a:schemeClr val="tx1"/>
                </a:solidFill>
                <a:latin typeface="Times New Roman" charset="0"/>
                <a:ea typeface="ＭＳ Ｐゴシック" charset="0"/>
              </a:defRPr>
            </a:lvl9pPr>
          </a:lstStyle>
          <a:p>
            <a:r>
              <a:rPr lang="en-GB"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rPr>
              <a:t>METHODS</a:t>
            </a:r>
            <a:endParaRPr lang="en-AU"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endParaRPr>
          </a:p>
        </p:txBody>
      </p:sp>
      <p:sp>
        <p:nvSpPr>
          <p:cNvPr id="20" name="Rectángulo 19">
            <a:extLst>
              <a:ext uri="{FF2B5EF4-FFF2-40B4-BE49-F238E27FC236}">
                <a16:creationId xmlns:a16="http://schemas.microsoft.com/office/drawing/2014/main" id="{C1E8B97D-F98E-45E6-B986-929DAF326E15}"/>
              </a:ext>
            </a:extLst>
          </p:cNvPr>
          <p:cNvSpPr/>
          <p:nvPr/>
        </p:nvSpPr>
        <p:spPr>
          <a:xfrm>
            <a:off x="900000" y="8876971"/>
            <a:ext cx="14364000" cy="4320000"/>
          </a:xfrm>
          <a:prstGeom prst="rect">
            <a:avLst/>
          </a:prstGeom>
          <a:solidFill>
            <a:schemeClr val="bg1"/>
          </a:solidFill>
          <a:ln w="76200">
            <a:solidFill>
              <a:srgbClr val="234A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157" dirty="0"/>
          </a:p>
        </p:txBody>
      </p:sp>
      <p:sp>
        <p:nvSpPr>
          <p:cNvPr id="30" name="Rectángulo 29">
            <a:extLst>
              <a:ext uri="{FF2B5EF4-FFF2-40B4-BE49-F238E27FC236}">
                <a16:creationId xmlns:a16="http://schemas.microsoft.com/office/drawing/2014/main" id="{5878D4B7-75FE-443C-8941-08703615CD6F}"/>
              </a:ext>
            </a:extLst>
          </p:cNvPr>
          <p:cNvSpPr/>
          <p:nvPr/>
        </p:nvSpPr>
        <p:spPr>
          <a:xfrm>
            <a:off x="1245618" y="9805794"/>
            <a:ext cx="13672759" cy="3108543"/>
          </a:xfrm>
          <a:prstGeom prst="rect">
            <a:avLst/>
          </a:prstGeom>
        </p:spPr>
        <p:txBody>
          <a:bodyPr wrap="square">
            <a:spAutoFit/>
          </a:bodyPr>
          <a:lstStyle/>
          <a:p>
            <a:r>
              <a:rPr lang="en-GB" sz="2800" dirty="0" err="1"/>
              <a:t>Lenacapavir</a:t>
            </a:r>
            <a:r>
              <a:rPr lang="en-GB" sz="2800" dirty="0"/>
              <a:t> (LEN) has proven to be superior to current recommended regimen, tenofovir disoproxil fumarate plus emtricitabine (TDF/FTC), as pre-exposure prophylaxis (</a:t>
            </a:r>
            <a:r>
              <a:rPr lang="en-GB" sz="2800" dirty="0" err="1"/>
              <a:t>PrEP</a:t>
            </a:r>
            <a:r>
              <a:rPr lang="en-GB" sz="2800" dirty="0"/>
              <a:t>) for key populations at high risk of HIV acquisition.</a:t>
            </a:r>
            <a:r>
              <a:rPr lang="en-GB" sz="2800" baseline="30000" dirty="0"/>
              <a:t>1</a:t>
            </a:r>
            <a:r>
              <a:rPr lang="en-GB" sz="2800" dirty="0"/>
              <a:t> However, to date no studies have evaluated the cost-effectiveness of this strategy at a national level. This study aims to compare the cost-effectiveness of currently approved daily </a:t>
            </a:r>
            <a:r>
              <a:rPr lang="en-GB" sz="2800" dirty="0" err="1"/>
              <a:t>PrEP</a:t>
            </a:r>
            <a:r>
              <a:rPr lang="en-GB" sz="2800" dirty="0"/>
              <a:t> in Spain, with tenofovir disoproxil fumarate plus emtricitabine (TDF/FTC), in gay, bisexual and other men who have sex with men (GBMSM) versus the newer alternative with subcutaneous </a:t>
            </a:r>
            <a:r>
              <a:rPr lang="en-GB" sz="2800" dirty="0" err="1"/>
              <a:t>lenacapavir</a:t>
            </a:r>
            <a:r>
              <a:rPr lang="en-GB" sz="2800" dirty="0"/>
              <a:t> every 6 months (LEN). </a:t>
            </a:r>
            <a:endParaRPr lang="es-ES" sz="2800" dirty="0"/>
          </a:p>
        </p:txBody>
      </p:sp>
      <p:sp>
        <p:nvSpPr>
          <p:cNvPr id="64" name="Text Box 2">
            <a:extLst>
              <a:ext uri="{FF2B5EF4-FFF2-40B4-BE49-F238E27FC236}">
                <a16:creationId xmlns:a16="http://schemas.microsoft.com/office/drawing/2014/main" id="{BB69D296-D40D-4612-A52D-FEAAEF4BDC50}"/>
              </a:ext>
            </a:extLst>
          </p:cNvPr>
          <p:cNvSpPr txBox="1">
            <a:spLocks noChangeArrowheads="1"/>
          </p:cNvSpPr>
          <p:nvPr/>
        </p:nvSpPr>
        <p:spPr bwMode="auto">
          <a:xfrm>
            <a:off x="930064" y="9138010"/>
            <a:ext cx="12708213" cy="876061"/>
          </a:xfrm>
          <a:prstGeom prst="rect">
            <a:avLst/>
          </a:prstGeom>
          <a:noFill/>
          <a:ln w="9525">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tx1">
                      <a:alpha val="74998"/>
                    </a:schemeClr>
                  </a:outerShdw>
                </a:effectLst>
              </a14:hiddenEffects>
            </a:ext>
          </a:extLst>
        </p:spPr>
        <p:txBody>
          <a:bodyPr lIns="409803" tIns="409803" rIns="409803" bIns="409803" anchor="ctr"/>
          <a:lstStyle>
            <a:lvl1pPr defTabSz="192088" eaLnBrk="0" hangingPunct="0">
              <a:defRPr sz="500">
                <a:solidFill>
                  <a:schemeClr val="tx1"/>
                </a:solidFill>
                <a:latin typeface="Times New Roman" charset="0"/>
                <a:ea typeface="ＭＳ Ｐゴシック" charset="0"/>
              </a:defRPr>
            </a:lvl1pPr>
            <a:lvl2pPr marL="742950" indent="-285750" defTabSz="192088" eaLnBrk="0" hangingPunct="0">
              <a:defRPr sz="500">
                <a:solidFill>
                  <a:schemeClr val="tx1"/>
                </a:solidFill>
                <a:latin typeface="Times New Roman" charset="0"/>
                <a:ea typeface="ＭＳ Ｐゴシック" charset="0"/>
              </a:defRPr>
            </a:lvl2pPr>
            <a:lvl3pPr marL="1143000" indent="-228600" defTabSz="192088" eaLnBrk="0" hangingPunct="0">
              <a:defRPr sz="500">
                <a:solidFill>
                  <a:schemeClr val="tx1"/>
                </a:solidFill>
                <a:latin typeface="Times New Roman" charset="0"/>
                <a:ea typeface="ＭＳ Ｐゴシック" charset="0"/>
              </a:defRPr>
            </a:lvl3pPr>
            <a:lvl4pPr marL="1600200" indent="-228600" defTabSz="192088" eaLnBrk="0" hangingPunct="0">
              <a:defRPr sz="500">
                <a:solidFill>
                  <a:schemeClr val="tx1"/>
                </a:solidFill>
                <a:latin typeface="Times New Roman" charset="0"/>
                <a:ea typeface="ＭＳ Ｐゴシック" charset="0"/>
              </a:defRPr>
            </a:lvl4pPr>
            <a:lvl5pPr marL="2057400" indent="-228600" defTabSz="192088" eaLnBrk="0" hangingPunct="0">
              <a:defRPr sz="500">
                <a:solidFill>
                  <a:schemeClr val="tx1"/>
                </a:solidFill>
                <a:latin typeface="Times New Roman" charset="0"/>
                <a:ea typeface="ＭＳ Ｐゴシック" charset="0"/>
              </a:defRPr>
            </a:lvl5pPr>
            <a:lvl6pPr marL="2514600" indent="-228600" defTabSz="192088" eaLnBrk="0" fontAlgn="base" hangingPunct="0">
              <a:spcBef>
                <a:spcPct val="0"/>
              </a:spcBef>
              <a:spcAft>
                <a:spcPct val="0"/>
              </a:spcAft>
              <a:defRPr sz="500">
                <a:solidFill>
                  <a:schemeClr val="tx1"/>
                </a:solidFill>
                <a:latin typeface="Times New Roman" charset="0"/>
                <a:ea typeface="ＭＳ Ｐゴシック" charset="0"/>
              </a:defRPr>
            </a:lvl6pPr>
            <a:lvl7pPr marL="2971800" indent="-228600" defTabSz="192088" eaLnBrk="0" fontAlgn="base" hangingPunct="0">
              <a:spcBef>
                <a:spcPct val="0"/>
              </a:spcBef>
              <a:spcAft>
                <a:spcPct val="0"/>
              </a:spcAft>
              <a:defRPr sz="500">
                <a:solidFill>
                  <a:schemeClr val="tx1"/>
                </a:solidFill>
                <a:latin typeface="Times New Roman" charset="0"/>
                <a:ea typeface="ＭＳ Ｐゴシック" charset="0"/>
              </a:defRPr>
            </a:lvl7pPr>
            <a:lvl8pPr marL="3429000" indent="-228600" defTabSz="192088" eaLnBrk="0" fontAlgn="base" hangingPunct="0">
              <a:spcBef>
                <a:spcPct val="0"/>
              </a:spcBef>
              <a:spcAft>
                <a:spcPct val="0"/>
              </a:spcAft>
              <a:defRPr sz="500">
                <a:solidFill>
                  <a:schemeClr val="tx1"/>
                </a:solidFill>
                <a:latin typeface="Times New Roman" charset="0"/>
                <a:ea typeface="ＭＳ Ｐゴシック" charset="0"/>
              </a:defRPr>
            </a:lvl8pPr>
            <a:lvl9pPr marL="3886200" indent="-228600" defTabSz="192088" eaLnBrk="0" fontAlgn="base" hangingPunct="0">
              <a:spcBef>
                <a:spcPct val="0"/>
              </a:spcBef>
              <a:spcAft>
                <a:spcPct val="0"/>
              </a:spcAft>
              <a:defRPr sz="500">
                <a:solidFill>
                  <a:schemeClr val="tx1"/>
                </a:solidFill>
                <a:latin typeface="Times New Roman" charset="0"/>
                <a:ea typeface="ＭＳ Ｐゴシック" charset="0"/>
              </a:defRPr>
            </a:lvl9pPr>
          </a:lstStyle>
          <a:p>
            <a:r>
              <a:rPr lang="en-GB"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rPr>
              <a:t>PURPOSE</a:t>
            </a:r>
            <a:endParaRPr lang="en-AU"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endParaRPr>
          </a:p>
        </p:txBody>
      </p:sp>
      <p:sp>
        <p:nvSpPr>
          <p:cNvPr id="66" name="Text Box 2">
            <a:extLst>
              <a:ext uri="{FF2B5EF4-FFF2-40B4-BE49-F238E27FC236}">
                <a16:creationId xmlns:a16="http://schemas.microsoft.com/office/drawing/2014/main" id="{BC287C41-597F-49BA-9B40-CA44BA216768}"/>
              </a:ext>
            </a:extLst>
          </p:cNvPr>
          <p:cNvSpPr txBox="1">
            <a:spLocks noChangeArrowheads="1"/>
          </p:cNvSpPr>
          <p:nvPr/>
        </p:nvSpPr>
        <p:spPr bwMode="auto">
          <a:xfrm>
            <a:off x="15576285" y="9063622"/>
            <a:ext cx="10511391" cy="1024835"/>
          </a:xfrm>
          <a:prstGeom prst="rect">
            <a:avLst/>
          </a:prstGeom>
          <a:noFill/>
          <a:ln w="9525">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tx1">
                      <a:alpha val="74998"/>
                    </a:schemeClr>
                  </a:outerShdw>
                </a:effectLst>
              </a14:hiddenEffects>
            </a:ext>
          </a:extLst>
        </p:spPr>
        <p:txBody>
          <a:bodyPr lIns="409803" tIns="409803" rIns="409803" bIns="409803" anchor="ctr"/>
          <a:lstStyle>
            <a:lvl1pPr defTabSz="192088" eaLnBrk="0" hangingPunct="0">
              <a:defRPr sz="500">
                <a:solidFill>
                  <a:schemeClr val="tx1"/>
                </a:solidFill>
                <a:latin typeface="Times New Roman" charset="0"/>
                <a:ea typeface="ＭＳ Ｐゴシック" charset="0"/>
              </a:defRPr>
            </a:lvl1pPr>
            <a:lvl2pPr marL="742950" indent="-285750" defTabSz="192088" eaLnBrk="0" hangingPunct="0">
              <a:defRPr sz="500">
                <a:solidFill>
                  <a:schemeClr val="tx1"/>
                </a:solidFill>
                <a:latin typeface="Times New Roman" charset="0"/>
                <a:ea typeface="ＭＳ Ｐゴシック" charset="0"/>
              </a:defRPr>
            </a:lvl2pPr>
            <a:lvl3pPr marL="1143000" indent="-228600" defTabSz="192088" eaLnBrk="0" hangingPunct="0">
              <a:defRPr sz="500">
                <a:solidFill>
                  <a:schemeClr val="tx1"/>
                </a:solidFill>
                <a:latin typeface="Times New Roman" charset="0"/>
                <a:ea typeface="ＭＳ Ｐゴシック" charset="0"/>
              </a:defRPr>
            </a:lvl3pPr>
            <a:lvl4pPr marL="1600200" indent="-228600" defTabSz="192088" eaLnBrk="0" hangingPunct="0">
              <a:defRPr sz="500">
                <a:solidFill>
                  <a:schemeClr val="tx1"/>
                </a:solidFill>
                <a:latin typeface="Times New Roman" charset="0"/>
                <a:ea typeface="ＭＳ Ｐゴシック" charset="0"/>
              </a:defRPr>
            </a:lvl4pPr>
            <a:lvl5pPr marL="2057400" indent="-228600" defTabSz="192088" eaLnBrk="0" hangingPunct="0">
              <a:defRPr sz="500">
                <a:solidFill>
                  <a:schemeClr val="tx1"/>
                </a:solidFill>
                <a:latin typeface="Times New Roman" charset="0"/>
                <a:ea typeface="ＭＳ Ｐゴシック" charset="0"/>
              </a:defRPr>
            </a:lvl5pPr>
            <a:lvl6pPr marL="2514600" indent="-228600" defTabSz="192088" eaLnBrk="0" fontAlgn="base" hangingPunct="0">
              <a:spcBef>
                <a:spcPct val="0"/>
              </a:spcBef>
              <a:spcAft>
                <a:spcPct val="0"/>
              </a:spcAft>
              <a:defRPr sz="500">
                <a:solidFill>
                  <a:schemeClr val="tx1"/>
                </a:solidFill>
                <a:latin typeface="Times New Roman" charset="0"/>
                <a:ea typeface="ＭＳ Ｐゴシック" charset="0"/>
              </a:defRPr>
            </a:lvl6pPr>
            <a:lvl7pPr marL="2971800" indent="-228600" defTabSz="192088" eaLnBrk="0" fontAlgn="base" hangingPunct="0">
              <a:spcBef>
                <a:spcPct val="0"/>
              </a:spcBef>
              <a:spcAft>
                <a:spcPct val="0"/>
              </a:spcAft>
              <a:defRPr sz="500">
                <a:solidFill>
                  <a:schemeClr val="tx1"/>
                </a:solidFill>
                <a:latin typeface="Times New Roman" charset="0"/>
                <a:ea typeface="ＭＳ Ｐゴシック" charset="0"/>
              </a:defRPr>
            </a:lvl7pPr>
            <a:lvl8pPr marL="3429000" indent="-228600" defTabSz="192088" eaLnBrk="0" fontAlgn="base" hangingPunct="0">
              <a:spcBef>
                <a:spcPct val="0"/>
              </a:spcBef>
              <a:spcAft>
                <a:spcPct val="0"/>
              </a:spcAft>
              <a:defRPr sz="500">
                <a:solidFill>
                  <a:schemeClr val="tx1"/>
                </a:solidFill>
                <a:latin typeface="Times New Roman" charset="0"/>
                <a:ea typeface="ＭＳ Ｐゴシック" charset="0"/>
              </a:defRPr>
            </a:lvl8pPr>
            <a:lvl9pPr marL="3886200" indent="-228600" defTabSz="192088" eaLnBrk="0" fontAlgn="base" hangingPunct="0">
              <a:spcBef>
                <a:spcPct val="0"/>
              </a:spcBef>
              <a:spcAft>
                <a:spcPct val="0"/>
              </a:spcAft>
              <a:defRPr sz="500">
                <a:solidFill>
                  <a:schemeClr val="tx1"/>
                </a:solidFill>
                <a:latin typeface="Times New Roman" charset="0"/>
                <a:ea typeface="ＭＳ Ｐゴシック" charset="0"/>
              </a:defRPr>
            </a:lvl9pPr>
          </a:lstStyle>
          <a:p>
            <a:r>
              <a:rPr lang="en-GB"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rPr>
              <a:t>RESULTS</a:t>
            </a:r>
            <a:endParaRPr lang="en-AU"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endParaRPr>
          </a:p>
        </p:txBody>
      </p:sp>
      <p:sp>
        <p:nvSpPr>
          <p:cNvPr id="17" name="Rectángulo 16">
            <a:extLst>
              <a:ext uri="{FF2B5EF4-FFF2-40B4-BE49-F238E27FC236}">
                <a16:creationId xmlns:a16="http://schemas.microsoft.com/office/drawing/2014/main" id="{3FC689EA-AB5E-4664-BCC3-207D9980A0D0}"/>
              </a:ext>
            </a:extLst>
          </p:cNvPr>
          <p:cNvSpPr/>
          <p:nvPr/>
        </p:nvSpPr>
        <p:spPr>
          <a:xfrm>
            <a:off x="899998" y="27899557"/>
            <a:ext cx="14391792" cy="3316390"/>
          </a:xfrm>
          <a:prstGeom prst="rect">
            <a:avLst/>
          </a:prstGeom>
          <a:solidFill>
            <a:schemeClr val="bg1"/>
          </a:solidFill>
          <a:ln w="76200">
            <a:solidFill>
              <a:srgbClr val="234A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157"/>
          </a:p>
        </p:txBody>
      </p:sp>
      <p:sp>
        <p:nvSpPr>
          <p:cNvPr id="33" name="Rectángulo 32">
            <a:extLst>
              <a:ext uri="{FF2B5EF4-FFF2-40B4-BE49-F238E27FC236}">
                <a16:creationId xmlns:a16="http://schemas.microsoft.com/office/drawing/2014/main" id="{4EE84E10-B828-4589-99EC-4590146C3A2B}"/>
              </a:ext>
            </a:extLst>
          </p:cNvPr>
          <p:cNvSpPr/>
          <p:nvPr/>
        </p:nvSpPr>
        <p:spPr>
          <a:xfrm>
            <a:off x="1619367" y="29208525"/>
            <a:ext cx="12925260" cy="1323439"/>
          </a:xfrm>
          <a:prstGeom prst="rect">
            <a:avLst/>
          </a:prstGeom>
        </p:spPr>
        <p:txBody>
          <a:bodyPr wrap="square">
            <a:spAutoFit/>
          </a:bodyPr>
          <a:lstStyle/>
          <a:p>
            <a:pPr algn="ctr" defTabSz="612116">
              <a:spcBef>
                <a:spcPct val="50000"/>
              </a:spcBef>
            </a:pPr>
            <a:r>
              <a:rPr lang="en-US" sz="4000" b="1" dirty="0"/>
              <a:t>LEN could be cost-effective in Spain at a price of €4,320 per six-month dose.</a:t>
            </a:r>
            <a:endParaRPr lang="en-CA" sz="4000" b="1" dirty="0">
              <a:solidFill>
                <a:schemeClr val="bg2">
                  <a:lumMod val="25000"/>
                </a:schemeClr>
              </a:solidFill>
              <a:latin typeface="Arial" panose="020B0604020202020204" pitchFamily="34" charset="0"/>
              <a:cs typeface="Arial" panose="020B0604020202020204" pitchFamily="34" charset="0"/>
            </a:endParaRPr>
          </a:p>
        </p:txBody>
      </p:sp>
      <p:sp>
        <p:nvSpPr>
          <p:cNvPr id="71" name="Text Box 2">
            <a:extLst>
              <a:ext uri="{FF2B5EF4-FFF2-40B4-BE49-F238E27FC236}">
                <a16:creationId xmlns:a16="http://schemas.microsoft.com/office/drawing/2014/main" id="{76BC6877-E77D-4CE7-834A-09B8B5F85FCC}"/>
              </a:ext>
            </a:extLst>
          </p:cNvPr>
          <p:cNvSpPr txBox="1">
            <a:spLocks noChangeArrowheads="1"/>
          </p:cNvSpPr>
          <p:nvPr/>
        </p:nvSpPr>
        <p:spPr bwMode="auto">
          <a:xfrm>
            <a:off x="1094296" y="28079498"/>
            <a:ext cx="8393345" cy="652227"/>
          </a:xfrm>
          <a:prstGeom prst="rect">
            <a:avLst/>
          </a:prstGeom>
          <a:noFill/>
          <a:ln w="9525">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tx1">
                      <a:alpha val="74998"/>
                    </a:schemeClr>
                  </a:outerShdw>
                </a:effectLst>
              </a14:hiddenEffects>
            </a:ext>
          </a:extLst>
        </p:spPr>
        <p:txBody>
          <a:bodyPr lIns="409803" tIns="409803" rIns="409803" bIns="409803" anchor="ctr"/>
          <a:lstStyle>
            <a:lvl1pPr defTabSz="192088" eaLnBrk="0" hangingPunct="0">
              <a:defRPr sz="500">
                <a:solidFill>
                  <a:schemeClr val="tx1"/>
                </a:solidFill>
                <a:latin typeface="Times New Roman" charset="0"/>
                <a:ea typeface="ＭＳ Ｐゴシック" charset="0"/>
              </a:defRPr>
            </a:lvl1pPr>
            <a:lvl2pPr marL="742950" indent="-285750" defTabSz="192088" eaLnBrk="0" hangingPunct="0">
              <a:defRPr sz="500">
                <a:solidFill>
                  <a:schemeClr val="tx1"/>
                </a:solidFill>
                <a:latin typeface="Times New Roman" charset="0"/>
                <a:ea typeface="ＭＳ Ｐゴシック" charset="0"/>
              </a:defRPr>
            </a:lvl2pPr>
            <a:lvl3pPr marL="1143000" indent="-228600" defTabSz="192088" eaLnBrk="0" hangingPunct="0">
              <a:defRPr sz="500">
                <a:solidFill>
                  <a:schemeClr val="tx1"/>
                </a:solidFill>
                <a:latin typeface="Times New Roman" charset="0"/>
                <a:ea typeface="ＭＳ Ｐゴシック" charset="0"/>
              </a:defRPr>
            </a:lvl3pPr>
            <a:lvl4pPr marL="1600200" indent="-228600" defTabSz="192088" eaLnBrk="0" hangingPunct="0">
              <a:defRPr sz="500">
                <a:solidFill>
                  <a:schemeClr val="tx1"/>
                </a:solidFill>
                <a:latin typeface="Times New Roman" charset="0"/>
                <a:ea typeface="ＭＳ Ｐゴシック" charset="0"/>
              </a:defRPr>
            </a:lvl4pPr>
            <a:lvl5pPr marL="2057400" indent="-228600" defTabSz="192088" eaLnBrk="0" hangingPunct="0">
              <a:defRPr sz="500">
                <a:solidFill>
                  <a:schemeClr val="tx1"/>
                </a:solidFill>
                <a:latin typeface="Times New Roman" charset="0"/>
                <a:ea typeface="ＭＳ Ｐゴシック" charset="0"/>
              </a:defRPr>
            </a:lvl5pPr>
            <a:lvl6pPr marL="2514600" indent="-228600" defTabSz="192088" eaLnBrk="0" fontAlgn="base" hangingPunct="0">
              <a:spcBef>
                <a:spcPct val="0"/>
              </a:spcBef>
              <a:spcAft>
                <a:spcPct val="0"/>
              </a:spcAft>
              <a:defRPr sz="500">
                <a:solidFill>
                  <a:schemeClr val="tx1"/>
                </a:solidFill>
                <a:latin typeface="Times New Roman" charset="0"/>
                <a:ea typeface="ＭＳ Ｐゴシック" charset="0"/>
              </a:defRPr>
            </a:lvl6pPr>
            <a:lvl7pPr marL="2971800" indent="-228600" defTabSz="192088" eaLnBrk="0" fontAlgn="base" hangingPunct="0">
              <a:spcBef>
                <a:spcPct val="0"/>
              </a:spcBef>
              <a:spcAft>
                <a:spcPct val="0"/>
              </a:spcAft>
              <a:defRPr sz="500">
                <a:solidFill>
                  <a:schemeClr val="tx1"/>
                </a:solidFill>
                <a:latin typeface="Times New Roman" charset="0"/>
                <a:ea typeface="ＭＳ Ｐゴシック" charset="0"/>
              </a:defRPr>
            </a:lvl7pPr>
            <a:lvl8pPr marL="3429000" indent="-228600" defTabSz="192088" eaLnBrk="0" fontAlgn="base" hangingPunct="0">
              <a:spcBef>
                <a:spcPct val="0"/>
              </a:spcBef>
              <a:spcAft>
                <a:spcPct val="0"/>
              </a:spcAft>
              <a:defRPr sz="500">
                <a:solidFill>
                  <a:schemeClr val="tx1"/>
                </a:solidFill>
                <a:latin typeface="Times New Roman" charset="0"/>
                <a:ea typeface="ＭＳ Ｐゴシック" charset="0"/>
              </a:defRPr>
            </a:lvl8pPr>
            <a:lvl9pPr marL="3886200" indent="-228600" defTabSz="192088" eaLnBrk="0" fontAlgn="base" hangingPunct="0">
              <a:spcBef>
                <a:spcPct val="0"/>
              </a:spcBef>
              <a:spcAft>
                <a:spcPct val="0"/>
              </a:spcAft>
              <a:defRPr sz="500">
                <a:solidFill>
                  <a:schemeClr val="tx1"/>
                </a:solidFill>
                <a:latin typeface="Times New Roman" charset="0"/>
                <a:ea typeface="ＭＳ Ｐゴシック" charset="0"/>
              </a:defRPr>
            </a:lvl9pPr>
          </a:lstStyle>
          <a:p>
            <a:r>
              <a:rPr lang="en-GB"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rPr>
              <a:t>CONCLUSIONS</a:t>
            </a:r>
            <a:endParaRPr lang="en-AU"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endParaRPr>
          </a:p>
        </p:txBody>
      </p:sp>
      <p:sp>
        <p:nvSpPr>
          <p:cNvPr id="35" name="Rectángulo 34">
            <a:extLst>
              <a:ext uri="{FF2B5EF4-FFF2-40B4-BE49-F238E27FC236}">
                <a16:creationId xmlns:a16="http://schemas.microsoft.com/office/drawing/2014/main" id="{9714A605-AB4B-4F79-ADD5-EF4021DAC0CB}"/>
              </a:ext>
            </a:extLst>
          </p:cNvPr>
          <p:cNvSpPr/>
          <p:nvPr/>
        </p:nvSpPr>
        <p:spPr>
          <a:xfrm>
            <a:off x="1369606" y="28668745"/>
            <a:ext cx="10604582" cy="523220"/>
          </a:xfrm>
          <a:prstGeom prst="rect">
            <a:avLst/>
          </a:prstGeom>
        </p:spPr>
        <p:txBody>
          <a:bodyPr wrap="square">
            <a:spAutoFit/>
          </a:bodyPr>
          <a:lstStyle/>
          <a:p>
            <a:pPr defTabSz="612116" eaLnBrk="0" hangingPunct="0">
              <a:spcBef>
                <a:spcPct val="50000"/>
              </a:spcBef>
            </a:pPr>
            <a:r>
              <a:rPr lang="en-AU" sz="2800" dirty="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rPr>
              <a:t> </a:t>
            </a:r>
            <a:endParaRPr lang="en-US" sz="2800" dirty="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5" name="Text Box 2">
            <a:extLst>
              <a:ext uri="{FF2B5EF4-FFF2-40B4-BE49-F238E27FC236}">
                <a16:creationId xmlns:a16="http://schemas.microsoft.com/office/drawing/2014/main" id="{5E4D7843-CADD-4BEC-AAD7-1E0E7689582B}"/>
              </a:ext>
            </a:extLst>
          </p:cNvPr>
          <p:cNvSpPr txBox="1">
            <a:spLocks noChangeArrowheads="1"/>
          </p:cNvSpPr>
          <p:nvPr/>
        </p:nvSpPr>
        <p:spPr bwMode="auto">
          <a:xfrm>
            <a:off x="15500871" y="27747414"/>
            <a:ext cx="4968589" cy="921331"/>
          </a:xfrm>
          <a:prstGeom prst="rect">
            <a:avLst/>
          </a:prstGeom>
          <a:noFill/>
          <a:ln w="9525">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tx1">
                      <a:alpha val="74998"/>
                    </a:schemeClr>
                  </a:outerShdw>
                </a:effectLst>
              </a14:hiddenEffects>
            </a:ext>
          </a:extLst>
        </p:spPr>
        <p:txBody>
          <a:bodyPr lIns="409803" tIns="409803" rIns="409803" bIns="409803" anchor="ctr"/>
          <a:lstStyle>
            <a:lvl1pPr defTabSz="192088" eaLnBrk="0" hangingPunct="0">
              <a:defRPr sz="500">
                <a:solidFill>
                  <a:schemeClr val="tx1"/>
                </a:solidFill>
                <a:latin typeface="Times New Roman" charset="0"/>
                <a:ea typeface="ＭＳ Ｐゴシック" charset="0"/>
              </a:defRPr>
            </a:lvl1pPr>
            <a:lvl2pPr marL="742950" indent="-285750" defTabSz="192088" eaLnBrk="0" hangingPunct="0">
              <a:defRPr sz="500">
                <a:solidFill>
                  <a:schemeClr val="tx1"/>
                </a:solidFill>
                <a:latin typeface="Times New Roman" charset="0"/>
                <a:ea typeface="ＭＳ Ｐゴシック" charset="0"/>
              </a:defRPr>
            </a:lvl2pPr>
            <a:lvl3pPr marL="1143000" indent="-228600" defTabSz="192088" eaLnBrk="0" hangingPunct="0">
              <a:defRPr sz="500">
                <a:solidFill>
                  <a:schemeClr val="tx1"/>
                </a:solidFill>
                <a:latin typeface="Times New Roman" charset="0"/>
                <a:ea typeface="ＭＳ Ｐゴシック" charset="0"/>
              </a:defRPr>
            </a:lvl3pPr>
            <a:lvl4pPr marL="1600200" indent="-228600" defTabSz="192088" eaLnBrk="0" hangingPunct="0">
              <a:defRPr sz="500">
                <a:solidFill>
                  <a:schemeClr val="tx1"/>
                </a:solidFill>
                <a:latin typeface="Times New Roman" charset="0"/>
                <a:ea typeface="ＭＳ Ｐゴシック" charset="0"/>
              </a:defRPr>
            </a:lvl4pPr>
            <a:lvl5pPr marL="2057400" indent="-228600" defTabSz="192088" eaLnBrk="0" hangingPunct="0">
              <a:defRPr sz="500">
                <a:solidFill>
                  <a:schemeClr val="tx1"/>
                </a:solidFill>
                <a:latin typeface="Times New Roman" charset="0"/>
                <a:ea typeface="ＭＳ Ｐゴシック" charset="0"/>
              </a:defRPr>
            </a:lvl5pPr>
            <a:lvl6pPr marL="2514600" indent="-228600" defTabSz="192088" eaLnBrk="0" fontAlgn="base" hangingPunct="0">
              <a:spcBef>
                <a:spcPct val="0"/>
              </a:spcBef>
              <a:spcAft>
                <a:spcPct val="0"/>
              </a:spcAft>
              <a:defRPr sz="500">
                <a:solidFill>
                  <a:schemeClr val="tx1"/>
                </a:solidFill>
                <a:latin typeface="Times New Roman" charset="0"/>
                <a:ea typeface="ＭＳ Ｐゴシック" charset="0"/>
              </a:defRPr>
            </a:lvl6pPr>
            <a:lvl7pPr marL="2971800" indent="-228600" defTabSz="192088" eaLnBrk="0" fontAlgn="base" hangingPunct="0">
              <a:spcBef>
                <a:spcPct val="0"/>
              </a:spcBef>
              <a:spcAft>
                <a:spcPct val="0"/>
              </a:spcAft>
              <a:defRPr sz="500">
                <a:solidFill>
                  <a:schemeClr val="tx1"/>
                </a:solidFill>
                <a:latin typeface="Times New Roman" charset="0"/>
                <a:ea typeface="ＭＳ Ｐゴシック" charset="0"/>
              </a:defRPr>
            </a:lvl7pPr>
            <a:lvl8pPr marL="3429000" indent="-228600" defTabSz="192088" eaLnBrk="0" fontAlgn="base" hangingPunct="0">
              <a:spcBef>
                <a:spcPct val="0"/>
              </a:spcBef>
              <a:spcAft>
                <a:spcPct val="0"/>
              </a:spcAft>
              <a:defRPr sz="500">
                <a:solidFill>
                  <a:schemeClr val="tx1"/>
                </a:solidFill>
                <a:latin typeface="Times New Roman" charset="0"/>
                <a:ea typeface="ＭＳ Ｐゴシック" charset="0"/>
              </a:defRPr>
            </a:lvl8pPr>
            <a:lvl9pPr marL="3886200" indent="-228600" defTabSz="192088" eaLnBrk="0" fontAlgn="base" hangingPunct="0">
              <a:spcBef>
                <a:spcPct val="0"/>
              </a:spcBef>
              <a:spcAft>
                <a:spcPct val="0"/>
              </a:spcAft>
              <a:defRPr sz="500">
                <a:solidFill>
                  <a:schemeClr val="tx1"/>
                </a:solidFill>
                <a:latin typeface="Times New Roman" charset="0"/>
                <a:ea typeface="ＭＳ Ｐゴシック" charset="0"/>
              </a:defRPr>
            </a:lvl9pPr>
          </a:lstStyle>
          <a:p>
            <a:r>
              <a:rPr lang="en-GB"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rPr>
              <a:t>REFERENCES</a:t>
            </a:r>
            <a:endParaRPr lang="en-AU"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endParaRPr>
          </a:p>
        </p:txBody>
      </p:sp>
      <p:sp>
        <p:nvSpPr>
          <p:cNvPr id="19" name="Rectángulo 18">
            <a:extLst>
              <a:ext uri="{FF2B5EF4-FFF2-40B4-BE49-F238E27FC236}">
                <a16:creationId xmlns:a16="http://schemas.microsoft.com/office/drawing/2014/main" id="{BD06328F-8B03-4AA7-AEB1-AAC702FFF8EB}"/>
              </a:ext>
            </a:extLst>
          </p:cNvPr>
          <p:cNvSpPr/>
          <p:nvPr/>
        </p:nvSpPr>
        <p:spPr>
          <a:xfrm>
            <a:off x="34559999" y="27899556"/>
            <a:ext cx="7740000" cy="3309314"/>
          </a:xfrm>
          <a:prstGeom prst="rect">
            <a:avLst/>
          </a:prstGeom>
          <a:solidFill>
            <a:schemeClr val="bg1"/>
          </a:solidFill>
          <a:ln w="76200">
            <a:solidFill>
              <a:srgbClr val="234A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157"/>
          </a:p>
        </p:txBody>
      </p:sp>
      <p:sp>
        <p:nvSpPr>
          <p:cNvPr id="36" name="Rectángulo 35">
            <a:extLst>
              <a:ext uri="{FF2B5EF4-FFF2-40B4-BE49-F238E27FC236}">
                <a16:creationId xmlns:a16="http://schemas.microsoft.com/office/drawing/2014/main" id="{C1A58DCF-0FFD-40F1-BCCE-6F2C8FC49367}"/>
              </a:ext>
            </a:extLst>
          </p:cNvPr>
          <p:cNvSpPr/>
          <p:nvPr/>
        </p:nvSpPr>
        <p:spPr>
          <a:xfrm>
            <a:off x="34857737" y="28722159"/>
            <a:ext cx="7166952" cy="523220"/>
          </a:xfrm>
          <a:prstGeom prst="rect">
            <a:avLst/>
          </a:prstGeom>
        </p:spPr>
        <p:txBody>
          <a:bodyPr wrap="square">
            <a:spAutoFit/>
          </a:bodyPr>
          <a:lstStyle/>
          <a:p>
            <a:pPr defTabSz="612116" eaLnBrk="0" hangingPunct="0">
              <a:spcBef>
                <a:spcPct val="50000"/>
              </a:spcBef>
            </a:pPr>
            <a:r>
              <a:rPr lang="en-AU" sz="2800" dirty="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rPr>
              <a:t>Wikman.Philip@gmail.com </a:t>
            </a:r>
            <a:endParaRPr lang="en-US" sz="2800" dirty="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8" name="Text Box 2">
            <a:extLst>
              <a:ext uri="{FF2B5EF4-FFF2-40B4-BE49-F238E27FC236}">
                <a16:creationId xmlns:a16="http://schemas.microsoft.com/office/drawing/2014/main" id="{5D4785E2-F218-4FAA-B081-49A7B37404B3}"/>
              </a:ext>
            </a:extLst>
          </p:cNvPr>
          <p:cNvSpPr txBox="1">
            <a:spLocks noChangeArrowheads="1"/>
          </p:cNvSpPr>
          <p:nvPr/>
        </p:nvSpPr>
        <p:spPr bwMode="auto">
          <a:xfrm>
            <a:off x="34524000" y="27804451"/>
            <a:ext cx="7048610" cy="921331"/>
          </a:xfrm>
          <a:prstGeom prst="rect">
            <a:avLst/>
          </a:prstGeom>
          <a:noFill/>
          <a:ln w="9525">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tx1">
                      <a:alpha val="74998"/>
                    </a:schemeClr>
                  </a:outerShdw>
                </a:effectLst>
              </a14:hiddenEffects>
            </a:ext>
          </a:extLst>
        </p:spPr>
        <p:txBody>
          <a:bodyPr lIns="409803" tIns="409803" rIns="409803" bIns="409803" anchor="ctr"/>
          <a:lstStyle>
            <a:lvl1pPr defTabSz="192088" eaLnBrk="0" hangingPunct="0">
              <a:defRPr sz="500">
                <a:solidFill>
                  <a:schemeClr val="tx1"/>
                </a:solidFill>
                <a:latin typeface="Times New Roman" charset="0"/>
                <a:ea typeface="ＭＳ Ｐゴシック" charset="0"/>
              </a:defRPr>
            </a:lvl1pPr>
            <a:lvl2pPr marL="742950" indent="-285750" defTabSz="192088" eaLnBrk="0" hangingPunct="0">
              <a:defRPr sz="500">
                <a:solidFill>
                  <a:schemeClr val="tx1"/>
                </a:solidFill>
                <a:latin typeface="Times New Roman" charset="0"/>
                <a:ea typeface="ＭＳ Ｐゴシック" charset="0"/>
              </a:defRPr>
            </a:lvl2pPr>
            <a:lvl3pPr marL="1143000" indent="-228600" defTabSz="192088" eaLnBrk="0" hangingPunct="0">
              <a:defRPr sz="500">
                <a:solidFill>
                  <a:schemeClr val="tx1"/>
                </a:solidFill>
                <a:latin typeface="Times New Roman" charset="0"/>
                <a:ea typeface="ＭＳ Ｐゴシック" charset="0"/>
              </a:defRPr>
            </a:lvl3pPr>
            <a:lvl4pPr marL="1600200" indent="-228600" defTabSz="192088" eaLnBrk="0" hangingPunct="0">
              <a:defRPr sz="500">
                <a:solidFill>
                  <a:schemeClr val="tx1"/>
                </a:solidFill>
                <a:latin typeface="Times New Roman" charset="0"/>
                <a:ea typeface="ＭＳ Ｐゴシック" charset="0"/>
              </a:defRPr>
            </a:lvl4pPr>
            <a:lvl5pPr marL="2057400" indent="-228600" defTabSz="192088" eaLnBrk="0" hangingPunct="0">
              <a:defRPr sz="500">
                <a:solidFill>
                  <a:schemeClr val="tx1"/>
                </a:solidFill>
                <a:latin typeface="Times New Roman" charset="0"/>
                <a:ea typeface="ＭＳ Ｐゴシック" charset="0"/>
              </a:defRPr>
            </a:lvl5pPr>
            <a:lvl6pPr marL="2514600" indent="-228600" defTabSz="192088" eaLnBrk="0" fontAlgn="base" hangingPunct="0">
              <a:spcBef>
                <a:spcPct val="0"/>
              </a:spcBef>
              <a:spcAft>
                <a:spcPct val="0"/>
              </a:spcAft>
              <a:defRPr sz="500">
                <a:solidFill>
                  <a:schemeClr val="tx1"/>
                </a:solidFill>
                <a:latin typeface="Times New Roman" charset="0"/>
                <a:ea typeface="ＭＳ Ｐゴシック" charset="0"/>
              </a:defRPr>
            </a:lvl6pPr>
            <a:lvl7pPr marL="2971800" indent="-228600" defTabSz="192088" eaLnBrk="0" fontAlgn="base" hangingPunct="0">
              <a:spcBef>
                <a:spcPct val="0"/>
              </a:spcBef>
              <a:spcAft>
                <a:spcPct val="0"/>
              </a:spcAft>
              <a:defRPr sz="500">
                <a:solidFill>
                  <a:schemeClr val="tx1"/>
                </a:solidFill>
                <a:latin typeface="Times New Roman" charset="0"/>
                <a:ea typeface="ＭＳ Ｐゴシック" charset="0"/>
              </a:defRPr>
            </a:lvl7pPr>
            <a:lvl8pPr marL="3429000" indent="-228600" defTabSz="192088" eaLnBrk="0" fontAlgn="base" hangingPunct="0">
              <a:spcBef>
                <a:spcPct val="0"/>
              </a:spcBef>
              <a:spcAft>
                <a:spcPct val="0"/>
              </a:spcAft>
              <a:defRPr sz="500">
                <a:solidFill>
                  <a:schemeClr val="tx1"/>
                </a:solidFill>
                <a:latin typeface="Times New Roman" charset="0"/>
                <a:ea typeface="ＭＳ Ｐゴシック" charset="0"/>
              </a:defRPr>
            </a:lvl8pPr>
            <a:lvl9pPr marL="3886200" indent="-228600" defTabSz="192088" eaLnBrk="0" fontAlgn="base" hangingPunct="0">
              <a:spcBef>
                <a:spcPct val="0"/>
              </a:spcBef>
              <a:spcAft>
                <a:spcPct val="0"/>
              </a:spcAft>
              <a:defRPr sz="500">
                <a:solidFill>
                  <a:schemeClr val="tx1"/>
                </a:solidFill>
                <a:latin typeface="Times New Roman" charset="0"/>
                <a:ea typeface="ＭＳ Ｐゴシック" charset="0"/>
              </a:defRPr>
            </a:lvl9pPr>
          </a:lstStyle>
          <a:p>
            <a:r>
              <a:rPr lang="en-GB"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rPr>
              <a:t>CONTACT INFORMATION</a:t>
            </a:r>
            <a:endParaRPr lang="en-AU"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endParaRPr>
          </a:p>
        </p:txBody>
      </p:sp>
      <p:sp>
        <p:nvSpPr>
          <p:cNvPr id="53" name="Rectangle 28">
            <a:extLst>
              <a:ext uri="{FF2B5EF4-FFF2-40B4-BE49-F238E27FC236}">
                <a16:creationId xmlns:a16="http://schemas.microsoft.com/office/drawing/2014/main" id="{6E9B3593-3DCB-4BD4-A45F-E6762EDE2416}"/>
              </a:ext>
            </a:extLst>
          </p:cNvPr>
          <p:cNvSpPr>
            <a:spLocks noChangeArrowheads="1"/>
          </p:cNvSpPr>
          <p:nvPr/>
        </p:nvSpPr>
        <p:spPr bwMode="auto">
          <a:xfrm>
            <a:off x="35496000" y="4700972"/>
            <a:ext cx="6803999" cy="3960000"/>
          </a:xfrm>
          <a:prstGeom prst="rect">
            <a:avLst/>
          </a:prstGeom>
          <a:noFill/>
          <a:ln w="76200">
            <a:solidFill>
              <a:srgbClr val="234A79"/>
            </a:solidFill>
            <a:miter lim="800000"/>
            <a:headEnd/>
            <a:tailEnd/>
          </a:ln>
          <a:effectLst/>
        </p:spPr>
        <p:txBody>
          <a:bodyPr lIns="241394" tIns="241394" rIns="241394" bIns="241394" anchor="ctr"/>
          <a:lstStyle/>
          <a:p>
            <a:pPr algn="ctr" defTabSz="612127" eaLnBrk="0" hangingPunct="0">
              <a:spcBef>
                <a:spcPct val="50000"/>
              </a:spcBef>
            </a:pPr>
            <a:r>
              <a:rPr lang="en-US" sz="3600" b="1" kern="0" dirty="0">
                <a:solidFill>
                  <a:srgbClr val="234A79"/>
                </a:solidFill>
                <a:latin typeface="Gibson SemBd" panose="02000000000000000000" pitchFamily="2" charset="77"/>
                <a:ea typeface="Open Sans" panose="020B0606030504020204" pitchFamily="34" charset="0"/>
                <a:cs typeface="Open Sans" panose="020B0606030504020204" pitchFamily="34" charset="0"/>
              </a:rPr>
              <a:t>You can add your logos here</a:t>
            </a:r>
          </a:p>
        </p:txBody>
      </p:sp>
      <p:sp>
        <p:nvSpPr>
          <p:cNvPr id="54" name="Rectángulo 53">
            <a:extLst>
              <a:ext uri="{FF2B5EF4-FFF2-40B4-BE49-F238E27FC236}">
                <a16:creationId xmlns:a16="http://schemas.microsoft.com/office/drawing/2014/main" id="{17C5402B-253C-4FBC-B56E-F18831552755}"/>
              </a:ext>
            </a:extLst>
          </p:cNvPr>
          <p:cNvSpPr/>
          <p:nvPr/>
        </p:nvSpPr>
        <p:spPr>
          <a:xfrm>
            <a:off x="899999" y="4700972"/>
            <a:ext cx="34380000" cy="3960000"/>
          </a:xfrm>
          <a:prstGeom prst="rect">
            <a:avLst/>
          </a:prstGeom>
          <a:noFill/>
          <a:ln w="76200">
            <a:solidFill>
              <a:srgbClr val="234A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157">
              <a:solidFill>
                <a:schemeClr val="tx1">
                  <a:lumMod val="85000"/>
                  <a:lumOff val="15000"/>
                </a:schemeClr>
              </a:solidFill>
            </a:endParaRPr>
          </a:p>
        </p:txBody>
      </p:sp>
      <p:sp>
        <p:nvSpPr>
          <p:cNvPr id="55" name="Text Box 40">
            <a:extLst>
              <a:ext uri="{FF2B5EF4-FFF2-40B4-BE49-F238E27FC236}">
                <a16:creationId xmlns:a16="http://schemas.microsoft.com/office/drawing/2014/main" id="{7B8A2544-E75F-48A4-A41E-A2463F66DE43}"/>
              </a:ext>
            </a:extLst>
          </p:cNvPr>
          <p:cNvSpPr txBox="1">
            <a:spLocks noChangeArrowheads="1"/>
          </p:cNvSpPr>
          <p:nvPr/>
        </p:nvSpPr>
        <p:spPr bwMode="auto">
          <a:xfrm>
            <a:off x="1160722" y="6399958"/>
            <a:ext cx="33697015" cy="1874293"/>
          </a:xfrm>
          <a:prstGeom prst="rect">
            <a:avLst/>
          </a:prstGeom>
          <a:noFill/>
          <a:ln>
            <a:noFill/>
          </a:ln>
          <a:effectLst/>
        </p:spPr>
        <p:txBody>
          <a:bodyPr lIns="276594" tIns="276594" rIns="276594" bIns="276594" anchor="ctr"/>
          <a:lstStyle>
            <a:lvl1pPr defTabSz="192088" eaLnBrk="0" hangingPunct="0">
              <a:defRPr sz="500">
                <a:solidFill>
                  <a:schemeClr val="tx1"/>
                </a:solidFill>
                <a:latin typeface="Times New Roman" charset="0"/>
                <a:ea typeface="ＭＳ Ｐゴシック" charset="0"/>
              </a:defRPr>
            </a:lvl1pPr>
            <a:lvl2pPr marL="742950" indent="-285750" defTabSz="192088" eaLnBrk="0" hangingPunct="0">
              <a:defRPr sz="500">
                <a:solidFill>
                  <a:schemeClr val="tx1"/>
                </a:solidFill>
                <a:latin typeface="Times New Roman" charset="0"/>
                <a:ea typeface="ＭＳ Ｐゴシック" charset="0"/>
              </a:defRPr>
            </a:lvl2pPr>
            <a:lvl3pPr marL="1143000" indent="-228600" defTabSz="192088" eaLnBrk="0" hangingPunct="0">
              <a:defRPr sz="500">
                <a:solidFill>
                  <a:schemeClr val="tx1"/>
                </a:solidFill>
                <a:latin typeface="Times New Roman" charset="0"/>
                <a:ea typeface="ＭＳ Ｐゴシック" charset="0"/>
              </a:defRPr>
            </a:lvl3pPr>
            <a:lvl4pPr marL="1600200" indent="-228600" defTabSz="192088" eaLnBrk="0" hangingPunct="0">
              <a:defRPr sz="500">
                <a:solidFill>
                  <a:schemeClr val="tx1"/>
                </a:solidFill>
                <a:latin typeface="Times New Roman" charset="0"/>
                <a:ea typeface="ＭＳ Ｐゴシック" charset="0"/>
              </a:defRPr>
            </a:lvl4pPr>
            <a:lvl5pPr marL="2057400" indent="-228600" defTabSz="192088" eaLnBrk="0" hangingPunct="0">
              <a:defRPr sz="500">
                <a:solidFill>
                  <a:schemeClr val="tx1"/>
                </a:solidFill>
                <a:latin typeface="Times New Roman" charset="0"/>
                <a:ea typeface="ＭＳ Ｐゴシック" charset="0"/>
              </a:defRPr>
            </a:lvl5pPr>
            <a:lvl6pPr marL="2514600" indent="-228600" defTabSz="192088" eaLnBrk="0" fontAlgn="base" hangingPunct="0">
              <a:spcBef>
                <a:spcPct val="0"/>
              </a:spcBef>
              <a:spcAft>
                <a:spcPct val="0"/>
              </a:spcAft>
              <a:defRPr sz="500">
                <a:solidFill>
                  <a:schemeClr val="tx1"/>
                </a:solidFill>
                <a:latin typeface="Times New Roman" charset="0"/>
                <a:ea typeface="ＭＳ Ｐゴシック" charset="0"/>
              </a:defRPr>
            </a:lvl6pPr>
            <a:lvl7pPr marL="2971800" indent="-228600" defTabSz="192088" eaLnBrk="0" fontAlgn="base" hangingPunct="0">
              <a:spcBef>
                <a:spcPct val="0"/>
              </a:spcBef>
              <a:spcAft>
                <a:spcPct val="0"/>
              </a:spcAft>
              <a:defRPr sz="500">
                <a:solidFill>
                  <a:schemeClr val="tx1"/>
                </a:solidFill>
                <a:latin typeface="Times New Roman" charset="0"/>
                <a:ea typeface="ＭＳ Ｐゴシック" charset="0"/>
              </a:defRPr>
            </a:lvl7pPr>
            <a:lvl8pPr marL="3429000" indent="-228600" defTabSz="192088" eaLnBrk="0" fontAlgn="base" hangingPunct="0">
              <a:spcBef>
                <a:spcPct val="0"/>
              </a:spcBef>
              <a:spcAft>
                <a:spcPct val="0"/>
              </a:spcAft>
              <a:defRPr sz="500">
                <a:solidFill>
                  <a:schemeClr val="tx1"/>
                </a:solidFill>
                <a:latin typeface="Times New Roman" charset="0"/>
                <a:ea typeface="ＭＳ Ｐゴシック" charset="0"/>
              </a:defRPr>
            </a:lvl8pPr>
            <a:lvl9pPr marL="3886200" indent="-228600" defTabSz="192088" eaLnBrk="0" fontAlgn="base" hangingPunct="0">
              <a:spcBef>
                <a:spcPct val="0"/>
              </a:spcBef>
              <a:spcAft>
                <a:spcPct val="0"/>
              </a:spcAft>
              <a:defRPr sz="500">
                <a:solidFill>
                  <a:schemeClr val="tx1"/>
                </a:solidFill>
                <a:latin typeface="Times New Roman" charset="0"/>
                <a:ea typeface="ＭＳ Ｐゴシック" charset="0"/>
              </a:defRPr>
            </a:lvl9pPr>
          </a:lstStyle>
          <a:p>
            <a:r>
              <a:rPr lang="es-ES" sz="2400" u="sng" dirty="0"/>
              <a:t>P. Wikman-Jorgensen</a:t>
            </a:r>
            <a:r>
              <a:rPr lang="es-ES" sz="2400" u="sng" baseline="30000" dirty="0"/>
              <a:t>1</a:t>
            </a:r>
            <a:r>
              <a:rPr lang="es-ES" sz="2400" u="sng" dirty="0"/>
              <a:t> </a:t>
            </a:r>
            <a:r>
              <a:rPr lang="es-ES" sz="2400" dirty="0"/>
              <a:t>, C. Iniesta</a:t>
            </a:r>
            <a:r>
              <a:rPr lang="es-ES" sz="2400" baseline="30000" dirty="0"/>
              <a:t>2,3</a:t>
            </a:r>
            <a:r>
              <a:rPr lang="es-ES" sz="2400" dirty="0"/>
              <a:t> , M. Ruiz-Algueró</a:t>
            </a:r>
            <a:r>
              <a:rPr lang="es-ES" sz="2400" baseline="30000" dirty="0"/>
              <a:t>4</a:t>
            </a:r>
            <a:r>
              <a:rPr lang="es-ES" sz="2400" dirty="0"/>
              <a:t> , F. Pulido</a:t>
            </a:r>
            <a:r>
              <a:rPr lang="es-ES" sz="2400" baseline="30000" dirty="0"/>
              <a:t>5,6</a:t>
            </a:r>
            <a:r>
              <a:rPr lang="es-ES" sz="2400" dirty="0"/>
              <a:t> , J.A. Perez-Molina</a:t>
            </a:r>
            <a:r>
              <a:rPr lang="es-ES" sz="2400" baseline="30000" dirty="0"/>
              <a:t>7</a:t>
            </a:r>
            <a:r>
              <a:rPr lang="es-ES" sz="2400" dirty="0"/>
              <a:t> , J. Llenas-García</a:t>
            </a:r>
            <a:r>
              <a:rPr lang="es-ES" sz="2400" baseline="30000" dirty="0"/>
              <a:t>8</a:t>
            </a:r>
            <a:r>
              <a:rPr lang="es-ES" sz="2400" dirty="0"/>
              <a:t>.</a:t>
            </a:r>
          </a:p>
          <a:p>
            <a:r>
              <a:rPr lang="es-ES" sz="2400" dirty="0"/>
              <a:t>1. Hospital Clínico San Carlos, </a:t>
            </a:r>
            <a:r>
              <a:rPr lang="es-ES" sz="2400" dirty="0" err="1"/>
              <a:t>Infectious</a:t>
            </a:r>
            <a:r>
              <a:rPr lang="es-ES" sz="2400" dirty="0"/>
              <a:t> </a:t>
            </a:r>
            <a:r>
              <a:rPr lang="es-ES" sz="2400" dirty="0" err="1"/>
              <a:t>Diseases</a:t>
            </a:r>
            <a:r>
              <a:rPr lang="es-ES" sz="2400" dirty="0"/>
              <a:t>, Madrid, </a:t>
            </a:r>
            <a:r>
              <a:rPr lang="es-ES" sz="2400" dirty="0" err="1"/>
              <a:t>Spain</a:t>
            </a:r>
            <a:r>
              <a:rPr lang="es-ES" sz="2400" dirty="0"/>
              <a:t>. 2. </a:t>
            </a:r>
            <a:r>
              <a:rPr lang="es-ES" sz="2400" dirty="0" err="1"/>
              <a:t>Spanish</a:t>
            </a:r>
            <a:r>
              <a:rPr lang="es-ES" sz="2400" dirty="0"/>
              <a:t> </a:t>
            </a:r>
            <a:r>
              <a:rPr lang="es-ES" sz="2400" dirty="0" err="1"/>
              <a:t>Interdisciplinary</a:t>
            </a:r>
            <a:r>
              <a:rPr lang="es-ES" sz="2400" dirty="0"/>
              <a:t> AIDS </a:t>
            </a:r>
            <a:r>
              <a:rPr lang="es-ES" sz="2400" dirty="0" err="1"/>
              <a:t>Society</a:t>
            </a:r>
            <a:r>
              <a:rPr lang="es-ES" sz="2400" dirty="0"/>
              <a:t> (SEISIDA)., Madrid, </a:t>
            </a:r>
            <a:r>
              <a:rPr lang="es-ES" sz="2400" dirty="0" err="1"/>
              <a:t>Spain</a:t>
            </a:r>
            <a:r>
              <a:rPr lang="es-ES" sz="2400" dirty="0"/>
              <a:t>, 3. Instituto de Salud Carlos III, CIBER de Enfermedades Infecciosas (CIBERINFEC), Madrid, </a:t>
            </a:r>
            <a:r>
              <a:rPr lang="es-ES" sz="2400" dirty="0" err="1"/>
              <a:t>Spain</a:t>
            </a:r>
            <a:r>
              <a:rPr lang="es-ES" sz="2400" dirty="0"/>
              <a:t>, 4. </a:t>
            </a:r>
            <a:r>
              <a:rPr lang="en-US" sz="2400" dirty="0"/>
              <a:t>University of British Columbia, Faculty of Medicine,, Vancouver, Canada, 5. Institute for Healthcare Research Hospital 12 de </a:t>
            </a:r>
            <a:r>
              <a:rPr lang="en-US" sz="2400" dirty="0" err="1"/>
              <a:t>Octubre</a:t>
            </a:r>
            <a:r>
              <a:rPr lang="en-US" sz="2400" dirty="0"/>
              <a:t> (imas12), 6. Universidad Complutense de Madrid, HIV Unit, Madrid, Spain. 7. University Hospital Ramon y Cajal, Referral Centre for Tropical Diseases. Infectious Diseases Department., Madrid, </a:t>
            </a:r>
            <a:r>
              <a:rPr lang="es-ES" sz="2400" dirty="0" err="1"/>
              <a:t>Spain</a:t>
            </a:r>
            <a:r>
              <a:rPr lang="es-ES" sz="2400" dirty="0"/>
              <a:t>. 8. </a:t>
            </a:r>
            <a:r>
              <a:rPr lang="en-GB" sz="2400" dirty="0"/>
              <a:t>National Referral Centre for Imported Diseases and International Health, Hospital Universitario La Paz, </a:t>
            </a:r>
            <a:r>
              <a:rPr lang="en-GB" sz="2400" dirty="0" err="1"/>
              <a:t>IdiPAZ</a:t>
            </a:r>
            <a:r>
              <a:rPr lang="en-GB" sz="2400" dirty="0"/>
              <a:t>, Madrid, Spain.</a:t>
            </a:r>
            <a:endParaRPr lang="es-ES" sz="400" dirty="0"/>
          </a:p>
        </p:txBody>
      </p:sp>
      <p:sp>
        <p:nvSpPr>
          <p:cNvPr id="57" name="Text Box 2">
            <a:extLst>
              <a:ext uri="{FF2B5EF4-FFF2-40B4-BE49-F238E27FC236}">
                <a16:creationId xmlns:a16="http://schemas.microsoft.com/office/drawing/2014/main" id="{19378E08-B4C4-4E08-BA93-A2CF5282CB2E}"/>
              </a:ext>
            </a:extLst>
          </p:cNvPr>
          <p:cNvSpPr txBox="1">
            <a:spLocks noChangeArrowheads="1"/>
          </p:cNvSpPr>
          <p:nvPr/>
        </p:nvSpPr>
        <p:spPr bwMode="auto">
          <a:xfrm>
            <a:off x="968173" y="5178340"/>
            <a:ext cx="33697015" cy="10056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tx1">
                      <a:alpha val="74998"/>
                    </a:schemeClr>
                  </a:outerShdw>
                </a:effectLst>
              </a14:hiddenEffects>
            </a:ext>
          </a:extLst>
        </p:spPr>
        <p:txBody>
          <a:bodyPr lIns="409803" tIns="409803" rIns="409803" bIns="409803" anchor="ctr"/>
          <a:lstStyle>
            <a:lvl1pPr defTabSz="192088" eaLnBrk="0" hangingPunct="0">
              <a:defRPr sz="500">
                <a:solidFill>
                  <a:schemeClr val="tx1"/>
                </a:solidFill>
                <a:latin typeface="Times New Roman" charset="0"/>
                <a:ea typeface="ＭＳ Ｐゴシック" charset="0"/>
              </a:defRPr>
            </a:lvl1pPr>
            <a:lvl2pPr marL="742950" indent="-285750" defTabSz="192088" eaLnBrk="0" hangingPunct="0">
              <a:defRPr sz="500">
                <a:solidFill>
                  <a:schemeClr val="tx1"/>
                </a:solidFill>
                <a:latin typeface="Times New Roman" charset="0"/>
                <a:ea typeface="ＭＳ Ｐゴシック" charset="0"/>
              </a:defRPr>
            </a:lvl2pPr>
            <a:lvl3pPr marL="1143000" indent="-228600" defTabSz="192088" eaLnBrk="0" hangingPunct="0">
              <a:defRPr sz="500">
                <a:solidFill>
                  <a:schemeClr val="tx1"/>
                </a:solidFill>
                <a:latin typeface="Times New Roman" charset="0"/>
                <a:ea typeface="ＭＳ Ｐゴシック" charset="0"/>
              </a:defRPr>
            </a:lvl3pPr>
            <a:lvl4pPr marL="1600200" indent="-228600" defTabSz="192088" eaLnBrk="0" hangingPunct="0">
              <a:defRPr sz="500">
                <a:solidFill>
                  <a:schemeClr val="tx1"/>
                </a:solidFill>
                <a:latin typeface="Times New Roman" charset="0"/>
                <a:ea typeface="ＭＳ Ｐゴシック" charset="0"/>
              </a:defRPr>
            </a:lvl4pPr>
            <a:lvl5pPr marL="2057400" indent="-228600" defTabSz="192088" eaLnBrk="0" hangingPunct="0">
              <a:defRPr sz="500">
                <a:solidFill>
                  <a:schemeClr val="tx1"/>
                </a:solidFill>
                <a:latin typeface="Times New Roman" charset="0"/>
                <a:ea typeface="ＭＳ Ｐゴシック" charset="0"/>
              </a:defRPr>
            </a:lvl5pPr>
            <a:lvl6pPr marL="2514600" indent="-228600" defTabSz="192088" eaLnBrk="0" fontAlgn="base" hangingPunct="0">
              <a:spcBef>
                <a:spcPct val="0"/>
              </a:spcBef>
              <a:spcAft>
                <a:spcPct val="0"/>
              </a:spcAft>
              <a:defRPr sz="500">
                <a:solidFill>
                  <a:schemeClr val="tx1"/>
                </a:solidFill>
                <a:latin typeface="Times New Roman" charset="0"/>
                <a:ea typeface="ＭＳ Ｐゴシック" charset="0"/>
              </a:defRPr>
            </a:lvl6pPr>
            <a:lvl7pPr marL="2971800" indent="-228600" defTabSz="192088" eaLnBrk="0" fontAlgn="base" hangingPunct="0">
              <a:spcBef>
                <a:spcPct val="0"/>
              </a:spcBef>
              <a:spcAft>
                <a:spcPct val="0"/>
              </a:spcAft>
              <a:defRPr sz="500">
                <a:solidFill>
                  <a:schemeClr val="tx1"/>
                </a:solidFill>
                <a:latin typeface="Times New Roman" charset="0"/>
                <a:ea typeface="ＭＳ Ｐゴシック" charset="0"/>
              </a:defRPr>
            </a:lvl7pPr>
            <a:lvl8pPr marL="3429000" indent="-228600" defTabSz="192088" eaLnBrk="0" fontAlgn="base" hangingPunct="0">
              <a:spcBef>
                <a:spcPct val="0"/>
              </a:spcBef>
              <a:spcAft>
                <a:spcPct val="0"/>
              </a:spcAft>
              <a:defRPr sz="500">
                <a:solidFill>
                  <a:schemeClr val="tx1"/>
                </a:solidFill>
                <a:latin typeface="Times New Roman" charset="0"/>
                <a:ea typeface="ＭＳ Ｐゴシック" charset="0"/>
              </a:defRPr>
            </a:lvl8pPr>
            <a:lvl9pPr marL="3886200" indent="-228600" defTabSz="192088" eaLnBrk="0" fontAlgn="base" hangingPunct="0">
              <a:spcBef>
                <a:spcPct val="0"/>
              </a:spcBef>
              <a:spcAft>
                <a:spcPct val="0"/>
              </a:spcAft>
              <a:defRPr sz="500">
                <a:solidFill>
                  <a:schemeClr val="tx1"/>
                </a:solidFill>
                <a:latin typeface="Times New Roman" charset="0"/>
                <a:ea typeface="ＭＳ Ｐゴシック" charset="0"/>
              </a:defRPr>
            </a:lvl9pPr>
          </a:lstStyle>
          <a:p>
            <a:r>
              <a:rPr lang="en-GB" sz="4400" b="1" spc="300" dirty="0">
                <a:solidFill>
                  <a:srgbClr val="234A79"/>
                </a:solidFill>
                <a:latin typeface="Gibson SemBd" panose="02000000000000000000" pitchFamily="2" charset="77"/>
                <a:ea typeface="Open Sans" panose="020B0606030504020204" pitchFamily="34" charset="0"/>
                <a:cs typeface="Open Sans" panose="020B0606030504020204" pitchFamily="34" charset="0"/>
              </a:rPr>
              <a:t>Cost-effectiveness of </a:t>
            </a:r>
            <a:r>
              <a:rPr lang="en-GB" sz="4400" b="1" spc="300" dirty="0" err="1">
                <a:solidFill>
                  <a:srgbClr val="234A79"/>
                </a:solidFill>
                <a:latin typeface="Gibson SemBd" panose="02000000000000000000" pitchFamily="2" charset="77"/>
                <a:ea typeface="Open Sans" panose="020B0606030504020204" pitchFamily="34" charset="0"/>
                <a:cs typeface="Open Sans" panose="020B0606030504020204" pitchFamily="34" charset="0"/>
              </a:rPr>
              <a:t>lenacapair</a:t>
            </a:r>
            <a:r>
              <a:rPr lang="en-GB" sz="4400" b="1" spc="300" dirty="0">
                <a:solidFill>
                  <a:srgbClr val="234A79"/>
                </a:solidFill>
                <a:latin typeface="Gibson SemBd" panose="02000000000000000000" pitchFamily="2" charset="77"/>
                <a:ea typeface="Open Sans" panose="020B0606030504020204" pitchFamily="34" charset="0"/>
                <a:cs typeface="Open Sans" panose="020B0606030504020204" pitchFamily="34" charset="0"/>
              </a:rPr>
              <a:t> versus tenofovir disoproxil fumarate plus emtricitabine for pre-exposure prophylaxis to prevent HIV-1 transmission in gay, bisexual and other men who have sex with men in a European country. </a:t>
            </a:r>
            <a:endParaRPr lang="en-AU" sz="5400" b="1" spc="300" dirty="0">
              <a:solidFill>
                <a:srgbClr val="234A79"/>
              </a:solidFill>
              <a:latin typeface="Gibson SemBd" panose="02000000000000000000" pitchFamily="2" charset="77"/>
              <a:ea typeface="Open Sans" panose="020B0606030504020204" pitchFamily="34" charset="0"/>
              <a:cs typeface="Open Sans" panose="020B0606030504020204" pitchFamily="34" charset="0"/>
            </a:endParaRPr>
          </a:p>
        </p:txBody>
      </p:sp>
      <p:sp>
        <p:nvSpPr>
          <p:cNvPr id="4" name="CuadroTexto 3">
            <a:extLst>
              <a:ext uri="{FF2B5EF4-FFF2-40B4-BE49-F238E27FC236}">
                <a16:creationId xmlns:a16="http://schemas.microsoft.com/office/drawing/2014/main" id="{8CE25889-0583-2C63-B7DB-4E15F438908A}"/>
              </a:ext>
            </a:extLst>
          </p:cNvPr>
          <p:cNvSpPr txBox="1"/>
          <p:nvPr/>
        </p:nvSpPr>
        <p:spPr>
          <a:xfrm>
            <a:off x="24299674" y="17221242"/>
            <a:ext cx="8304229" cy="2677656"/>
          </a:xfrm>
          <a:prstGeom prst="rect">
            <a:avLst/>
          </a:prstGeom>
          <a:noFill/>
        </p:spPr>
        <p:txBody>
          <a:bodyPr wrap="square">
            <a:spAutoFit/>
          </a:bodyPr>
          <a:lstStyle/>
          <a:p>
            <a:pPr algn="l"/>
            <a:r>
              <a:rPr lang="en-US" sz="2800" b="0" i="0" u="none" strike="noStrike" baseline="0" dirty="0">
                <a:solidFill>
                  <a:srgbClr val="212529"/>
                </a:solidFill>
              </a:rPr>
              <a:t>The TDF/FTC arm yielded 8,546,030QALYs and cost €8,457,028,025 for the next 20 years. If LEN was used instead of TDF/FTC, it would cost</a:t>
            </a:r>
          </a:p>
          <a:p>
            <a:pPr algn="l"/>
            <a:r>
              <a:rPr lang="en-US" sz="2800" b="0" i="0" u="none" strike="noStrike" baseline="0" dirty="0">
                <a:solidFill>
                  <a:srgbClr val="212529"/>
                </a:solidFill>
              </a:rPr>
              <a:t>€47,062,063,906 (increase of €38,605,035,881) producing 9,030,933QALYs (Increase of 484,903.7QALYs), yielding an ICER of 79,613.82€/QALYs. </a:t>
            </a:r>
            <a:endParaRPr lang="es-ES" sz="2800" dirty="0"/>
          </a:p>
        </p:txBody>
      </p:sp>
      <p:sp>
        <p:nvSpPr>
          <p:cNvPr id="7" name="CuadroTexto 6">
            <a:extLst>
              <a:ext uri="{FF2B5EF4-FFF2-40B4-BE49-F238E27FC236}">
                <a16:creationId xmlns:a16="http://schemas.microsoft.com/office/drawing/2014/main" id="{F8E15A9E-971B-F735-9BC5-F15845A13346}"/>
              </a:ext>
            </a:extLst>
          </p:cNvPr>
          <p:cNvSpPr txBox="1"/>
          <p:nvPr/>
        </p:nvSpPr>
        <p:spPr>
          <a:xfrm>
            <a:off x="15757817" y="15382015"/>
            <a:ext cx="7935998" cy="2308324"/>
          </a:xfrm>
          <a:prstGeom prst="rect">
            <a:avLst/>
          </a:prstGeom>
          <a:noFill/>
        </p:spPr>
        <p:txBody>
          <a:bodyPr wrap="square">
            <a:spAutoFit/>
          </a:bodyPr>
          <a:lstStyle/>
          <a:p>
            <a:pPr>
              <a:spcAft>
                <a:spcPts val="1000"/>
              </a:spcAft>
              <a:buNone/>
            </a:pPr>
            <a:r>
              <a:rPr lang="en-US" sz="1600" b="1" dirty="0">
                <a:effectLst/>
                <a:ea typeface="Calibri" panose="020F0502020204030204" pitchFamily="34" charset="0"/>
                <a:cs typeface="Times New Roman" panose="02020603050405020304" pitchFamily="18" charset="0"/>
              </a:rPr>
              <a:t>Figure </a:t>
            </a:r>
            <a:r>
              <a:rPr lang="es-ES" sz="1600" dirty="0">
                <a:effectLst/>
                <a:ea typeface="Calibri" panose="020F0502020204030204" pitchFamily="34" charset="0"/>
                <a:cs typeface="Times New Roman" panose="02020603050405020304" pitchFamily="18" charset="0"/>
              </a:rPr>
              <a:t>  </a:t>
            </a:r>
            <a:r>
              <a:rPr lang="en-US" sz="1600" b="1" dirty="0">
                <a:effectLst/>
                <a:ea typeface="Calibri" panose="020F0502020204030204" pitchFamily="34" charset="0"/>
                <a:cs typeface="Times New Roman" panose="02020603050405020304" pitchFamily="18" charset="0"/>
              </a:rPr>
              <a:t>1. </a:t>
            </a:r>
            <a:r>
              <a:rPr lang="en-US" sz="1600" dirty="0">
                <a:effectLst/>
                <a:ea typeface="Calibri" panose="020F0502020204030204" pitchFamily="34" charset="0"/>
                <a:cs typeface="Times New Roman" panose="02020603050405020304" pitchFamily="18" charset="0"/>
              </a:rPr>
              <a:t>A Markov chain model for the transmission of HIV and the influence of pre-exposure prophylaxis (</a:t>
            </a:r>
            <a:r>
              <a:rPr lang="en-US" sz="1600" dirty="0" err="1">
                <a:effectLst/>
                <a:ea typeface="Calibri" panose="020F0502020204030204" pitchFamily="34" charset="0"/>
                <a:cs typeface="Times New Roman" panose="02020603050405020304" pitchFamily="18" charset="0"/>
              </a:rPr>
              <a:t>PrEP</a:t>
            </a:r>
            <a:r>
              <a:rPr lang="en-US" sz="1600" dirty="0">
                <a:effectLst/>
                <a:ea typeface="Calibri" panose="020F0502020204030204" pitchFamily="34" charset="0"/>
                <a:cs typeface="Times New Roman" panose="02020603050405020304" pitchFamily="18" charset="0"/>
              </a:rPr>
              <a:t>). µ: mortality</a:t>
            </a:r>
            <a:r>
              <a:rPr lang="en-US" sz="1600" b="1" dirty="0">
                <a:effectLst/>
                <a:ea typeface="Calibri" panose="020F0502020204030204" pitchFamily="34" charset="0"/>
                <a:cs typeface="Times New Roman" panose="02020603050405020304" pitchFamily="18" charset="0"/>
              </a:rPr>
              <a:t>. </a:t>
            </a:r>
            <a:r>
              <a:rPr lang="en-US" sz="1600" dirty="0">
                <a:effectLst/>
                <a:ea typeface="Calibri" panose="020F0502020204030204" pitchFamily="34" charset="0"/>
                <a:cs typeface="Times New Roman" panose="02020603050405020304" pitchFamily="18" charset="0"/>
              </a:rPr>
              <a:t>Starting at the upper left corner, the “susceptible state” represents non-HIV infected GBMSM at risk for HIV acquisition. People in this state may acquire HIV and transition into the first of the 8 states that represent the history of HIV natural infection, in accordance with previously used models.</a:t>
            </a:r>
            <a:r>
              <a:rPr lang="en-US" sz="1600" baseline="30000" dirty="0">
                <a:solidFill>
                  <a:srgbClr val="000000"/>
                </a:solidFill>
                <a:effectLst/>
                <a:ea typeface="Calibri" panose="020F0502020204030204" pitchFamily="34" charset="0"/>
                <a:cs typeface="Times New Roman" panose="02020603050405020304" pitchFamily="18" charset="0"/>
              </a:rPr>
              <a:t>23</a:t>
            </a:r>
            <a:r>
              <a:rPr lang="en-US" sz="1600" dirty="0">
                <a:effectLst/>
                <a:ea typeface="Calibri" panose="020F0502020204030204" pitchFamily="34" charset="0"/>
                <a:cs typeface="Times New Roman" panose="02020603050405020304" pitchFamily="18" charset="0"/>
              </a:rPr>
              <a:t> At any point in those 8 states, the patient may be diagnosed and started on ART. The susceptible persons may start on </a:t>
            </a:r>
            <a:r>
              <a:rPr lang="en-US" sz="1600" dirty="0" err="1">
                <a:effectLst/>
                <a:ea typeface="Calibri" panose="020F0502020204030204" pitchFamily="34" charset="0"/>
                <a:cs typeface="Times New Roman" panose="02020603050405020304" pitchFamily="18" charset="0"/>
              </a:rPr>
              <a:t>PrEP</a:t>
            </a:r>
            <a:r>
              <a:rPr lang="en-US" sz="1600" dirty="0">
                <a:effectLst/>
                <a:ea typeface="Calibri" panose="020F0502020204030204" pitchFamily="34" charset="0"/>
                <a:cs typeface="Times New Roman" panose="02020603050405020304" pitchFamily="18" charset="0"/>
              </a:rPr>
              <a:t>, where the risk of infection is much lower, but still possible, and transition through the HIV infection stages, and at any stage they may be started on treatment. In each state the person has a mortality rate µ.</a:t>
            </a:r>
            <a:endParaRPr lang="es-ES" sz="1600" dirty="0">
              <a:effectLst/>
              <a:ea typeface="Calibri" panose="020F0502020204030204" pitchFamily="34" charset="0"/>
              <a:cs typeface="Times New Roman" panose="02020603050405020304" pitchFamily="18" charset="0"/>
            </a:endParaRPr>
          </a:p>
        </p:txBody>
      </p:sp>
      <p:graphicFrame>
        <p:nvGraphicFramePr>
          <p:cNvPr id="2" name="Tabla 1">
            <a:extLst>
              <a:ext uri="{FF2B5EF4-FFF2-40B4-BE49-F238E27FC236}">
                <a16:creationId xmlns:a16="http://schemas.microsoft.com/office/drawing/2014/main" id="{72936F58-0DCD-77A3-09DB-6099A5344C26}"/>
              </a:ext>
            </a:extLst>
          </p:cNvPr>
          <p:cNvGraphicFramePr>
            <a:graphicFrameLocks noGrp="1"/>
          </p:cNvGraphicFramePr>
          <p:nvPr>
            <p:extLst>
              <p:ext uri="{D42A27DB-BD31-4B8C-83A1-F6EECF244321}">
                <p14:modId xmlns:p14="http://schemas.microsoft.com/office/powerpoint/2010/main" val="604880754"/>
              </p:ext>
            </p:extLst>
          </p:nvPr>
        </p:nvGraphicFramePr>
        <p:xfrm>
          <a:off x="15640079" y="18661574"/>
          <a:ext cx="7960207" cy="8733278"/>
        </p:xfrm>
        <a:graphic>
          <a:graphicData uri="http://schemas.openxmlformats.org/drawingml/2006/table">
            <a:tbl>
              <a:tblPr firstRow="1" firstCol="1" bandRow="1">
                <a:tableStyleId>{5C22544A-7EE6-4342-B048-85BDC9FD1C3A}</a:tableStyleId>
              </a:tblPr>
              <a:tblGrid>
                <a:gridCol w="2555188">
                  <a:extLst>
                    <a:ext uri="{9D8B030D-6E8A-4147-A177-3AD203B41FA5}">
                      <a16:colId xmlns:a16="http://schemas.microsoft.com/office/drawing/2014/main" val="3383560709"/>
                    </a:ext>
                  </a:extLst>
                </a:gridCol>
                <a:gridCol w="1438279">
                  <a:extLst>
                    <a:ext uri="{9D8B030D-6E8A-4147-A177-3AD203B41FA5}">
                      <a16:colId xmlns:a16="http://schemas.microsoft.com/office/drawing/2014/main" val="2257458958"/>
                    </a:ext>
                  </a:extLst>
                </a:gridCol>
                <a:gridCol w="1562268">
                  <a:extLst>
                    <a:ext uri="{9D8B030D-6E8A-4147-A177-3AD203B41FA5}">
                      <a16:colId xmlns:a16="http://schemas.microsoft.com/office/drawing/2014/main" val="4177814657"/>
                    </a:ext>
                  </a:extLst>
                </a:gridCol>
                <a:gridCol w="1018590">
                  <a:extLst>
                    <a:ext uri="{9D8B030D-6E8A-4147-A177-3AD203B41FA5}">
                      <a16:colId xmlns:a16="http://schemas.microsoft.com/office/drawing/2014/main" val="2543578483"/>
                    </a:ext>
                  </a:extLst>
                </a:gridCol>
                <a:gridCol w="1385882">
                  <a:extLst>
                    <a:ext uri="{9D8B030D-6E8A-4147-A177-3AD203B41FA5}">
                      <a16:colId xmlns:a16="http://schemas.microsoft.com/office/drawing/2014/main" val="3118758669"/>
                    </a:ext>
                  </a:extLst>
                </a:gridCol>
              </a:tblGrid>
              <a:tr h="973081">
                <a:tc>
                  <a:txBody>
                    <a:bodyPr/>
                    <a:lstStyle/>
                    <a:p>
                      <a:pPr>
                        <a:lnSpc>
                          <a:spcPct val="200000"/>
                        </a:lnSpc>
                        <a:spcAft>
                          <a:spcPts val="1000"/>
                        </a:spcAft>
                        <a:buNone/>
                      </a:pPr>
                      <a:r>
                        <a:rPr lang="en-US" sz="1400" dirty="0">
                          <a:effectLst/>
                          <a:latin typeface="Calibri" panose="020F0502020204030204" pitchFamily="34" charset="0"/>
                        </a:rPr>
                        <a:t>Parameter</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buNone/>
                      </a:pPr>
                      <a:r>
                        <a:rPr lang="en-US" sz="1400" dirty="0">
                          <a:effectLst/>
                          <a:latin typeface="Calibri" panose="020F0502020204030204" pitchFamily="34" charset="0"/>
                        </a:rPr>
                        <a:t>Value and OWSA range</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buNone/>
                      </a:pPr>
                      <a:r>
                        <a:rPr lang="en-US" sz="1400" dirty="0">
                          <a:effectLst/>
                          <a:latin typeface="Calibri" panose="020F0502020204030204" pitchFamily="34" charset="0"/>
                        </a:rPr>
                        <a:t>Initial distribution</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buNone/>
                      </a:pPr>
                      <a:r>
                        <a:rPr lang="en-US" sz="1400" dirty="0">
                          <a:effectLst/>
                          <a:latin typeface="Calibri" panose="020F0502020204030204" pitchFamily="34" charset="0"/>
                        </a:rPr>
                        <a:t>Source</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buNone/>
                      </a:pPr>
                      <a:r>
                        <a:rPr lang="en-US" sz="1400" dirty="0">
                          <a:effectLst/>
                          <a:latin typeface="Calibri" panose="020F0502020204030204" pitchFamily="34" charset="0"/>
                        </a:rPr>
                        <a:t>PSA distribution</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66058896"/>
                  </a:ext>
                </a:extLst>
              </a:tr>
              <a:tr h="727588">
                <a:tc>
                  <a:txBody>
                    <a:bodyPr/>
                    <a:lstStyle/>
                    <a:p>
                      <a:pPr>
                        <a:lnSpc>
                          <a:spcPct val="115000"/>
                        </a:lnSpc>
                        <a:spcAft>
                          <a:spcPts val="1000"/>
                        </a:spcAft>
                        <a:buNone/>
                      </a:pPr>
                      <a:r>
                        <a:rPr lang="en-US" sz="1400">
                          <a:effectLst/>
                          <a:latin typeface="Calibri" panose="020F0502020204030204" pitchFamily="34" charset="0"/>
                        </a:rPr>
                        <a:t>Number of GBMSM living with HIV</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400">
                          <a:effectLst/>
                          <a:latin typeface="Calibri" panose="020F0502020204030204" pitchFamily="34" charset="0"/>
                        </a:rPr>
                        <a:t>33558</a:t>
                      </a:r>
                      <a:r>
                        <a:rPr lang="es-ES" sz="1400">
                          <a:effectLst/>
                          <a:latin typeface="Calibri" panose="020F0502020204030204" pitchFamily="34" charset="0"/>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Normal (33558,4000)</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Hospital survey 2018</a:t>
                      </a:r>
                      <a:r>
                        <a:rPr lang="en-US" sz="1400" baseline="30000" dirty="0">
                          <a:effectLst/>
                          <a:latin typeface="Calibri" panose="020F0502020204030204" pitchFamily="34" charset="0"/>
                        </a:rPr>
                        <a:t>25</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Normal (32898,1000)</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78000251"/>
                  </a:ext>
                </a:extLst>
              </a:tr>
              <a:tr h="974972">
                <a:tc>
                  <a:txBody>
                    <a:bodyPr/>
                    <a:lstStyle/>
                    <a:p>
                      <a:pPr>
                        <a:lnSpc>
                          <a:spcPct val="115000"/>
                        </a:lnSpc>
                        <a:spcAft>
                          <a:spcPts val="1000"/>
                        </a:spcAft>
                        <a:buNone/>
                      </a:pPr>
                      <a:r>
                        <a:rPr lang="en-US" sz="1400">
                          <a:effectLst/>
                          <a:latin typeface="Calibri" panose="020F0502020204030204" pitchFamily="34" charset="0"/>
                        </a:rPr>
                        <a:t>Baseline proportion of infected people on treatment</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400">
                          <a:effectLst/>
                          <a:latin typeface="Calibri" panose="020F0502020204030204" pitchFamily="34" charset="0"/>
                        </a:rPr>
                        <a:t>0.89</a:t>
                      </a:r>
                      <a:r>
                        <a:rPr lang="es-ES" sz="1400">
                          <a:effectLst/>
                          <a:latin typeface="Calibri" panose="020F0502020204030204" pitchFamily="34" charset="0"/>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Calibri" panose="020F0502020204030204" pitchFamily="34" charset="0"/>
                        </a:rPr>
                        <a:t>Beta (0.89,0.1)</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Hernando et al.2023</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Beta (0.96,0.1)</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21808693"/>
                  </a:ext>
                </a:extLst>
              </a:tr>
              <a:tr h="480203">
                <a:tc>
                  <a:txBody>
                    <a:bodyPr/>
                    <a:lstStyle/>
                    <a:p>
                      <a:pPr>
                        <a:lnSpc>
                          <a:spcPct val="115000"/>
                        </a:lnSpc>
                        <a:spcAft>
                          <a:spcPts val="1000"/>
                        </a:spcAft>
                        <a:buNone/>
                      </a:pPr>
                      <a:r>
                        <a:rPr lang="en-US" sz="1400">
                          <a:effectLst/>
                          <a:latin typeface="Calibri" panose="020F0502020204030204" pitchFamily="34" charset="0"/>
                        </a:rPr>
                        <a:t>% GBMSM that go off PrEP</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400">
                          <a:effectLst/>
                          <a:latin typeface="Calibri" panose="020F0502020204030204" pitchFamily="34" charset="0"/>
                        </a:rPr>
                        <a:t>11.56% annually</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Calibri" panose="020F0502020204030204" pitchFamily="34" charset="0"/>
                        </a:rPr>
                        <a:t>NA</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Aparicio et al.2019</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Calibri" panose="020F0502020204030204" pitchFamily="34" charset="0"/>
                        </a:rPr>
                        <a:t>NA</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64254856"/>
                  </a:ext>
                </a:extLst>
              </a:tr>
              <a:tr h="480203">
                <a:tc>
                  <a:txBody>
                    <a:bodyPr/>
                    <a:lstStyle/>
                    <a:p>
                      <a:pPr>
                        <a:lnSpc>
                          <a:spcPct val="115000"/>
                        </a:lnSpc>
                        <a:spcAft>
                          <a:spcPts val="1000"/>
                        </a:spcAft>
                        <a:buNone/>
                      </a:pPr>
                      <a:r>
                        <a:rPr lang="en-US" sz="1400">
                          <a:effectLst/>
                          <a:latin typeface="Calibri" panose="020F0502020204030204" pitchFamily="34" charset="0"/>
                        </a:rPr>
                        <a:t>% GBMSM that start PrEP</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400">
                          <a:effectLst/>
                          <a:latin typeface="Calibri" panose="020F0502020204030204" pitchFamily="34" charset="0"/>
                        </a:rPr>
                        <a:t>30% annually</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Calibri" panose="020F0502020204030204" pitchFamily="34" charset="0"/>
                        </a:rPr>
                        <a:t>NA</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Nichols et al.2016</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Calibri" panose="020F0502020204030204" pitchFamily="34" charset="0"/>
                        </a:rPr>
                        <a:t>NA</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72116093"/>
                  </a:ext>
                </a:extLst>
              </a:tr>
              <a:tr h="2548013">
                <a:tc>
                  <a:txBody>
                    <a:bodyPr/>
                    <a:lstStyle/>
                    <a:p>
                      <a:pPr>
                        <a:lnSpc>
                          <a:spcPct val="115000"/>
                        </a:lnSpc>
                        <a:spcAft>
                          <a:spcPts val="1000"/>
                        </a:spcAft>
                        <a:buNone/>
                      </a:pPr>
                      <a:r>
                        <a:rPr lang="en-US" sz="1400">
                          <a:effectLst/>
                          <a:latin typeface="Calibri" panose="020F0502020204030204" pitchFamily="34" charset="0"/>
                        </a:rPr>
                        <a:t>Mortality of PLWHIV</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400">
                          <a:effectLst/>
                          <a:latin typeface="Calibri" panose="020F0502020204030204" pitchFamily="34" charset="0"/>
                        </a:rPr>
                        <a:t>&gt;350</a:t>
                      </a:r>
                      <a:endParaRPr lang="es-ES" sz="1400">
                        <a:effectLst/>
                        <a:latin typeface="Calibri" panose="020F0502020204030204" pitchFamily="34" charset="0"/>
                      </a:endParaRPr>
                    </a:p>
                    <a:p>
                      <a:pPr algn="ctr">
                        <a:lnSpc>
                          <a:spcPct val="115000"/>
                        </a:lnSpc>
                        <a:spcAft>
                          <a:spcPts val="1000"/>
                        </a:spcAft>
                        <a:buNone/>
                      </a:pPr>
                      <a:r>
                        <a:rPr lang="en-US" sz="1400">
                          <a:effectLst/>
                          <a:latin typeface="Calibri" panose="020F0502020204030204" pitchFamily="34" charset="0"/>
                        </a:rPr>
                        <a:t> </a:t>
                      </a:r>
                      <a:endParaRPr lang="es-ES" sz="1400">
                        <a:effectLst/>
                        <a:latin typeface="Calibri" panose="020F0502020204030204" pitchFamily="34" charset="0"/>
                      </a:endParaRPr>
                    </a:p>
                    <a:p>
                      <a:pPr algn="ctr">
                        <a:lnSpc>
                          <a:spcPct val="115000"/>
                        </a:lnSpc>
                        <a:spcAft>
                          <a:spcPts val="1000"/>
                        </a:spcAft>
                        <a:buNone/>
                      </a:pPr>
                      <a:r>
                        <a:rPr lang="en-US" sz="1400">
                          <a:effectLst/>
                          <a:latin typeface="Calibri" panose="020F0502020204030204" pitchFamily="34" charset="0"/>
                        </a:rPr>
                        <a:t>200-350</a:t>
                      </a:r>
                      <a:endParaRPr lang="es-ES" sz="1400">
                        <a:effectLst/>
                        <a:latin typeface="Calibri" panose="020F0502020204030204" pitchFamily="34" charset="0"/>
                      </a:endParaRPr>
                    </a:p>
                    <a:p>
                      <a:pPr algn="ctr">
                        <a:lnSpc>
                          <a:spcPct val="115000"/>
                        </a:lnSpc>
                        <a:spcAft>
                          <a:spcPts val="1000"/>
                        </a:spcAft>
                        <a:buNone/>
                      </a:pPr>
                      <a:r>
                        <a:rPr lang="en-US" sz="1400">
                          <a:effectLst/>
                          <a:latin typeface="Calibri" panose="020F0502020204030204" pitchFamily="34" charset="0"/>
                        </a:rPr>
                        <a:t> </a:t>
                      </a:r>
                      <a:endParaRPr lang="es-ES" sz="1400">
                        <a:effectLst/>
                        <a:latin typeface="Calibri" panose="020F0502020204030204" pitchFamily="34" charset="0"/>
                      </a:endParaRPr>
                    </a:p>
                    <a:p>
                      <a:pPr algn="ctr">
                        <a:lnSpc>
                          <a:spcPct val="115000"/>
                        </a:lnSpc>
                        <a:spcAft>
                          <a:spcPts val="1000"/>
                        </a:spcAft>
                        <a:buNone/>
                      </a:pPr>
                      <a:r>
                        <a:rPr lang="en-US" sz="1400">
                          <a:effectLst/>
                          <a:latin typeface="Calibri" panose="020F0502020204030204" pitchFamily="34" charset="0"/>
                        </a:rPr>
                        <a:t>&lt;200</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Beta (0.0000538, 0.000048)</a:t>
                      </a:r>
                      <a:endParaRPr lang="es-ES" sz="1400" dirty="0">
                        <a:effectLst/>
                        <a:latin typeface="Calibri" panose="020F0502020204030204" pitchFamily="34" charset="0"/>
                      </a:endParaRPr>
                    </a:p>
                    <a:p>
                      <a:pPr>
                        <a:lnSpc>
                          <a:spcPct val="115000"/>
                        </a:lnSpc>
                        <a:spcAft>
                          <a:spcPts val="1000"/>
                        </a:spcAft>
                        <a:buNone/>
                      </a:pPr>
                      <a:r>
                        <a:rPr lang="es-ES" sz="1400" dirty="0">
                          <a:effectLst/>
                          <a:latin typeface="Calibri" panose="020F0502020204030204" pitchFamily="34" charset="0"/>
                        </a:rPr>
                        <a:t>B</a:t>
                      </a:r>
                      <a:r>
                        <a:rPr lang="en-US" sz="1400" dirty="0">
                          <a:effectLst/>
                          <a:latin typeface="Calibri" panose="020F0502020204030204" pitchFamily="34" charset="0"/>
                        </a:rPr>
                        <a:t>eta (0.00012692, 0.000061)</a:t>
                      </a:r>
                      <a:br>
                        <a:rPr lang="es-ES" sz="1400" dirty="0">
                          <a:effectLst/>
                          <a:latin typeface="Calibri" panose="020F0502020204030204" pitchFamily="34" charset="0"/>
                        </a:rPr>
                      </a:br>
                      <a:endParaRPr lang="en-US" sz="1400" dirty="0">
                        <a:effectLst/>
                        <a:latin typeface="Calibri" panose="020F0502020204030204" pitchFamily="34" charset="0"/>
                      </a:endParaRPr>
                    </a:p>
                    <a:p>
                      <a:pPr>
                        <a:lnSpc>
                          <a:spcPct val="115000"/>
                        </a:lnSpc>
                        <a:spcAft>
                          <a:spcPts val="1000"/>
                        </a:spcAft>
                        <a:buNone/>
                      </a:pPr>
                      <a:r>
                        <a:rPr lang="en-US" sz="1400" dirty="0">
                          <a:effectLst/>
                          <a:latin typeface="Calibri" panose="020F0502020204030204" pitchFamily="34" charset="0"/>
                        </a:rPr>
                        <a:t>Beta (0.04/52, 0.04/52)</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da-DK" sz="1400" dirty="0">
                          <a:effectLst/>
                          <a:latin typeface="Calibri" panose="020F0502020204030204" pitchFamily="34" charset="0"/>
                        </a:rPr>
                        <a:t>Alejos</a:t>
                      </a:r>
                      <a:r>
                        <a:rPr lang="es-ES" sz="1400" dirty="0">
                          <a:effectLst/>
                          <a:latin typeface="Calibri" panose="020F0502020204030204" pitchFamily="34" charset="0"/>
                        </a:rPr>
                        <a:t> </a:t>
                      </a:r>
                      <a:r>
                        <a:rPr lang="da-DK" sz="1400" dirty="0">
                          <a:effectLst/>
                          <a:latin typeface="Calibri" panose="020F0502020204030204" pitchFamily="34" charset="0"/>
                        </a:rPr>
                        <a:t> et al. 2016</a:t>
                      </a:r>
                      <a:endParaRPr lang="es-ES" sz="1400" dirty="0">
                        <a:effectLst/>
                        <a:latin typeface="Calibri" panose="020F0502020204030204" pitchFamily="34" charset="0"/>
                      </a:endParaRPr>
                    </a:p>
                    <a:p>
                      <a:pPr>
                        <a:lnSpc>
                          <a:spcPct val="115000"/>
                        </a:lnSpc>
                        <a:spcAft>
                          <a:spcPts val="1000"/>
                        </a:spcAft>
                        <a:buNone/>
                      </a:pPr>
                      <a:r>
                        <a:rPr lang="da-DK" sz="1400" baseline="30000" dirty="0">
                          <a:effectLst/>
                          <a:latin typeface="Calibri" panose="020F0502020204030204" pitchFamily="34" charset="0"/>
                        </a:rPr>
                        <a:t> </a:t>
                      </a:r>
                      <a:endParaRPr lang="es-ES" sz="1400" dirty="0">
                        <a:effectLst/>
                        <a:latin typeface="Calibri" panose="020F0502020204030204" pitchFamily="34" charset="0"/>
                      </a:endParaRPr>
                    </a:p>
                    <a:p>
                      <a:pPr>
                        <a:lnSpc>
                          <a:spcPct val="115000"/>
                        </a:lnSpc>
                        <a:spcAft>
                          <a:spcPts val="1000"/>
                        </a:spcAft>
                        <a:buNone/>
                      </a:pPr>
                      <a:r>
                        <a:rPr lang="da-DK" sz="1400" dirty="0">
                          <a:effectLst/>
                          <a:latin typeface="Calibri" panose="020F0502020204030204" pitchFamily="34" charset="0"/>
                        </a:rPr>
                        <a:t> </a:t>
                      </a:r>
                      <a:endParaRPr lang="es-ES" sz="1400" dirty="0">
                        <a:effectLst/>
                        <a:latin typeface="Calibri" panose="020F0502020204030204" pitchFamily="34" charset="0"/>
                      </a:endParaRPr>
                    </a:p>
                    <a:p>
                      <a:pPr>
                        <a:lnSpc>
                          <a:spcPct val="115000"/>
                        </a:lnSpc>
                        <a:spcAft>
                          <a:spcPts val="1000"/>
                        </a:spcAft>
                        <a:buNone/>
                      </a:pPr>
                      <a:r>
                        <a:rPr lang="da-DK" sz="1400" dirty="0">
                          <a:effectLst/>
                          <a:latin typeface="Calibri" panose="020F0502020204030204" pitchFamily="34" charset="0"/>
                        </a:rPr>
                        <a:t>Kasaie et al. 2018</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s-ES" sz="1400" dirty="0">
                          <a:effectLst/>
                          <a:latin typeface="Calibri" panose="020F0502020204030204" pitchFamily="34" charset="0"/>
                        </a:rPr>
                        <a:t>Normal (8.18e-06, 1.63e-06)</a:t>
                      </a:r>
                    </a:p>
                    <a:p>
                      <a:pPr>
                        <a:lnSpc>
                          <a:spcPct val="115000"/>
                        </a:lnSpc>
                        <a:spcAft>
                          <a:spcPts val="1000"/>
                        </a:spcAft>
                        <a:buNone/>
                      </a:pPr>
                      <a:r>
                        <a:rPr lang="es-ES" sz="1400" dirty="0">
                          <a:effectLst/>
                          <a:latin typeface="Calibri" panose="020F0502020204030204" pitchFamily="34" charset="0"/>
                        </a:rPr>
                        <a:t>Normal (0.000148, 2.95e-05)</a:t>
                      </a:r>
                    </a:p>
                    <a:p>
                      <a:pPr>
                        <a:lnSpc>
                          <a:spcPct val="115000"/>
                        </a:lnSpc>
                        <a:spcAft>
                          <a:spcPts val="1000"/>
                        </a:spcAft>
                        <a:buNone/>
                      </a:pPr>
                      <a:r>
                        <a:rPr lang="es-ES" sz="1400" dirty="0">
                          <a:effectLst/>
                          <a:latin typeface="Calibri" panose="020F0502020204030204" pitchFamily="34" charset="0"/>
                        </a:rPr>
                        <a:t>Normal (6.41e-05, 1.28e-05)</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96428185"/>
                  </a:ext>
                </a:extLst>
              </a:tr>
              <a:tr h="727588">
                <a:tc>
                  <a:txBody>
                    <a:bodyPr/>
                    <a:lstStyle/>
                    <a:p>
                      <a:pPr>
                        <a:lnSpc>
                          <a:spcPct val="115000"/>
                        </a:lnSpc>
                        <a:spcAft>
                          <a:spcPts val="1000"/>
                        </a:spcAft>
                        <a:buNone/>
                      </a:pPr>
                      <a:r>
                        <a:rPr lang="en-US" sz="1400" dirty="0">
                          <a:effectLst/>
                          <a:latin typeface="Calibri" panose="020F0502020204030204" pitchFamily="34" charset="0"/>
                        </a:rPr>
                        <a:t>Partner change rate in very high-risk compartment</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400" dirty="0">
                          <a:effectLst/>
                          <a:latin typeface="Calibri" panose="020F0502020204030204" pitchFamily="34" charset="0"/>
                        </a:rPr>
                        <a:t>52.5/year</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Gamma (52.5/52, 52.5/52)</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Nichols et al.2016</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Normal (</a:t>
                      </a:r>
                      <a:r>
                        <a:rPr lang="es-ES" sz="1400" dirty="0">
                          <a:effectLst/>
                          <a:latin typeface="Calibri" panose="020F0502020204030204" pitchFamily="34" charset="0"/>
                        </a:rPr>
                        <a:t>2.75, 0.55)</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9667612"/>
                  </a:ext>
                </a:extLst>
              </a:tr>
              <a:tr h="727588">
                <a:tc>
                  <a:txBody>
                    <a:bodyPr/>
                    <a:lstStyle/>
                    <a:p>
                      <a:pPr>
                        <a:lnSpc>
                          <a:spcPct val="115000"/>
                        </a:lnSpc>
                        <a:spcAft>
                          <a:spcPts val="1000"/>
                        </a:spcAft>
                        <a:buNone/>
                      </a:pPr>
                      <a:r>
                        <a:rPr lang="en-US" sz="1400">
                          <a:effectLst/>
                          <a:latin typeface="Calibri" panose="020F0502020204030204" pitchFamily="34" charset="0"/>
                        </a:rPr>
                        <a:t>Partner change rate high-risk compartment</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400" dirty="0">
                          <a:effectLst/>
                          <a:latin typeface="Calibri" panose="020F0502020204030204" pitchFamily="34" charset="0"/>
                        </a:rPr>
                        <a:t>9/year</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Calibri" panose="020F0502020204030204" pitchFamily="34" charset="0"/>
                        </a:rPr>
                        <a:t>Gamma (9/52, 9/52)</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Nichols et al.2016</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Calibri" panose="020F0502020204030204" pitchFamily="34" charset="0"/>
                        </a:rPr>
                        <a:t>Normal (</a:t>
                      </a:r>
                      <a:r>
                        <a:rPr lang="es-ES" sz="1400">
                          <a:effectLst/>
                          <a:latin typeface="Calibri" panose="020F0502020204030204" pitchFamily="34" charset="0"/>
                        </a:rPr>
                        <a:t>0.036</a:t>
                      </a:r>
                    </a:p>
                    <a:p>
                      <a:pPr>
                        <a:lnSpc>
                          <a:spcPct val="115000"/>
                        </a:lnSpc>
                        <a:spcAft>
                          <a:spcPts val="1000"/>
                        </a:spcAft>
                        <a:buNone/>
                      </a:pPr>
                      <a:r>
                        <a:rPr lang="en-US" sz="1400">
                          <a:effectLst/>
                          <a:latin typeface="Calibri" panose="020F0502020204030204" pitchFamily="34" charset="0"/>
                        </a:rPr>
                        <a:t>, </a:t>
                      </a:r>
                      <a:r>
                        <a:rPr lang="es-ES" sz="1400">
                          <a:effectLst/>
                          <a:latin typeface="Calibri" panose="020F0502020204030204" pitchFamily="34" charset="0"/>
                        </a:rPr>
                        <a:t>0.007</a:t>
                      </a:r>
                      <a:r>
                        <a:rPr lang="en-US" sz="1400">
                          <a:effectLst/>
                          <a:latin typeface="Calibri" panose="020F0502020204030204" pitchFamily="34" charset="0"/>
                        </a:rPr>
                        <a:t>)</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8641394"/>
                  </a:ext>
                </a:extLst>
              </a:tr>
              <a:tr h="1087012">
                <a:tc>
                  <a:txBody>
                    <a:bodyPr/>
                    <a:lstStyle/>
                    <a:p>
                      <a:pPr>
                        <a:lnSpc>
                          <a:spcPct val="115000"/>
                        </a:lnSpc>
                        <a:spcAft>
                          <a:spcPts val="1000"/>
                        </a:spcAft>
                        <a:buNone/>
                      </a:pPr>
                      <a:r>
                        <a:rPr lang="en-US" sz="1400">
                          <a:effectLst/>
                          <a:latin typeface="Calibri" panose="020F0502020204030204" pitchFamily="34" charset="0"/>
                        </a:rPr>
                        <a:t>PrEP effectiveness</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400" dirty="0" err="1">
                          <a:effectLst/>
                          <a:latin typeface="Calibri" panose="020F0502020204030204" pitchFamily="34" charset="0"/>
                        </a:rPr>
                        <a:t>TDx</a:t>
                      </a:r>
                      <a:r>
                        <a:rPr lang="en-US" sz="1400" dirty="0">
                          <a:effectLst/>
                          <a:latin typeface="Calibri" panose="020F0502020204030204" pitchFamily="34" charset="0"/>
                        </a:rPr>
                        <a:t>/FTC 86% risk reduction</a:t>
                      </a:r>
                      <a:endParaRPr lang="es-ES" sz="1400" dirty="0">
                        <a:effectLst/>
                        <a:latin typeface="Calibri" panose="020F0502020204030204" pitchFamily="34" charset="0"/>
                      </a:endParaRPr>
                    </a:p>
                    <a:p>
                      <a:pPr algn="ctr">
                        <a:lnSpc>
                          <a:spcPct val="115000"/>
                        </a:lnSpc>
                        <a:spcAft>
                          <a:spcPts val="1000"/>
                        </a:spcAft>
                        <a:buNone/>
                      </a:pPr>
                      <a:r>
                        <a:rPr lang="en-US" sz="1400" dirty="0">
                          <a:effectLst/>
                          <a:latin typeface="Calibri" panose="020F0502020204030204" pitchFamily="34" charset="0"/>
                        </a:rPr>
                        <a:t>LEN 96% risk reduction</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Calibri" panose="020F0502020204030204" pitchFamily="34" charset="0"/>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PROUD 2016 </a:t>
                      </a:r>
                      <a:endParaRPr lang="es-ES" sz="1400" dirty="0">
                        <a:effectLst/>
                        <a:latin typeface="Calibri" panose="020F0502020204030204" pitchFamily="34" charset="0"/>
                      </a:endParaRPr>
                    </a:p>
                    <a:p>
                      <a:pPr>
                        <a:lnSpc>
                          <a:spcPct val="115000"/>
                        </a:lnSpc>
                        <a:spcAft>
                          <a:spcPts val="1000"/>
                        </a:spcAft>
                        <a:buNone/>
                      </a:pPr>
                      <a:r>
                        <a:rPr lang="en-US" sz="1400" dirty="0">
                          <a:effectLst/>
                          <a:latin typeface="Calibri" panose="020F0502020204030204" pitchFamily="34" charset="0"/>
                        </a:rPr>
                        <a:t>PURPOSE2 2024</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NA</a:t>
                      </a:r>
                      <a:endParaRPr lang="es-ES" sz="1400" dirty="0">
                        <a:effectLst/>
                        <a:latin typeface="Calibri" panose="020F0502020204030204" pitchFamily="34" charset="0"/>
                      </a:endParaRPr>
                    </a:p>
                    <a:p>
                      <a:pPr>
                        <a:lnSpc>
                          <a:spcPct val="115000"/>
                        </a:lnSpc>
                        <a:spcAft>
                          <a:spcPts val="1000"/>
                        </a:spcAft>
                        <a:buNone/>
                      </a:pPr>
                      <a:r>
                        <a:rPr lang="en-US" sz="1400" dirty="0">
                          <a:effectLst/>
                          <a:latin typeface="Calibri" panose="020F0502020204030204" pitchFamily="34" charset="0"/>
                        </a:rPr>
                        <a:t> </a:t>
                      </a:r>
                      <a:endParaRPr lang="es-ES" sz="1400" dirty="0">
                        <a:effectLst/>
                        <a:latin typeface="Calibri" panose="020F0502020204030204" pitchFamily="34" charset="0"/>
                      </a:endParaRPr>
                    </a:p>
                    <a:p>
                      <a:pPr>
                        <a:lnSpc>
                          <a:spcPct val="115000"/>
                        </a:lnSpc>
                        <a:spcAft>
                          <a:spcPts val="1000"/>
                        </a:spcAft>
                        <a:buNone/>
                      </a:pPr>
                      <a:r>
                        <a:rPr lang="en-US" sz="1400" dirty="0">
                          <a:effectLst/>
                          <a:latin typeface="Calibri" panose="020F0502020204030204" pitchFamily="34" charset="0"/>
                        </a:rPr>
                        <a:t> </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65670156"/>
                  </a:ext>
                </a:extLst>
              </a:tr>
            </a:tbl>
          </a:graphicData>
        </a:graphic>
      </p:graphicFrame>
      <p:sp>
        <p:nvSpPr>
          <p:cNvPr id="10" name="CuadroTexto 9">
            <a:extLst>
              <a:ext uri="{FF2B5EF4-FFF2-40B4-BE49-F238E27FC236}">
                <a16:creationId xmlns:a16="http://schemas.microsoft.com/office/drawing/2014/main" id="{0299E757-6156-2CD4-B2D4-71E58C600FAD}"/>
              </a:ext>
            </a:extLst>
          </p:cNvPr>
          <p:cNvSpPr txBox="1"/>
          <p:nvPr/>
        </p:nvSpPr>
        <p:spPr>
          <a:xfrm>
            <a:off x="15733606" y="17846308"/>
            <a:ext cx="7935998" cy="584775"/>
          </a:xfrm>
          <a:prstGeom prst="rect">
            <a:avLst/>
          </a:prstGeom>
          <a:noFill/>
        </p:spPr>
        <p:txBody>
          <a:bodyPr wrap="square">
            <a:spAutoFit/>
          </a:bodyPr>
          <a:lstStyle/>
          <a:p>
            <a:pPr>
              <a:spcAft>
                <a:spcPts val="1000"/>
              </a:spcAft>
              <a:buNone/>
            </a:pPr>
            <a:r>
              <a:rPr lang="en-US" sz="1600" b="1" dirty="0">
                <a:effectLst/>
                <a:ea typeface="Calibri" panose="020F0502020204030204" pitchFamily="34" charset="0"/>
                <a:cs typeface="Times New Roman" panose="02020603050405020304" pitchFamily="18" charset="0"/>
              </a:rPr>
              <a:t>Table 1.</a:t>
            </a:r>
            <a:r>
              <a:rPr lang="en-US" sz="1600" dirty="0">
                <a:effectLst/>
                <a:ea typeface="Calibri" panose="020F0502020204030204" pitchFamily="34" charset="0"/>
                <a:cs typeface="Times New Roman" panose="02020603050405020304" pitchFamily="18" charset="0"/>
              </a:rPr>
              <a:t> Key parameters of the model.</a:t>
            </a:r>
            <a:r>
              <a:rPr lang="en-US" sz="1600" b="1" dirty="0">
                <a:effectLst/>
                <a:ea typeface="Calibri" panose="020F0502020204030204" pitchFamily="34" charset="0"/>
                <a:cs typeface="Times New Roman" panose="02020603050405020304" pitchFamily="18" charset="0"/>
              </a:rPr>
              <a:t> </a:t>
            </a:r>
            <a:r>
              <a:rPr lang="en-US" sz="1600" dirty="0">
                <a:effectLst/>
                <a:ea typeface="Calibri" panose="020F0502020204030204" pitchFamily="34" charset="0"/>
                <a:cs typeface="Times New Roman" panose="02020603050405020304" pitchFamily="18" charset="0"/>
              </a:rPr>
              <a:t>These parameters govern the initial population of the different model states and the probabilities of transition between each state.</a:t>
            </a:r>
            <a:endParaRPr lang="es-ES" sz="1600" dirty="0">
              <a:effectLst/>
              <a:ea typeface="Calibri" panose="020F0502020204030204" pitchFamily="34" charset="0"/>
              <a:cs typeface="Times New Roman" panose="02020603050405020304" pitchFamily="18" charset="0"/>
            </a:endParaRPr>
          </a:p>
        </p:txBody>
      </p:sp>
      <p:sp>
        <p:nvSpPr>
          <p:cNvPr id="12" name="CuadroTexto 11">
            <a:extLst>
              <a:ext uri="{FF2B5EF4-FFF2-40B4-BE49-F238E27FC236}">
                <a16:creationId xmlns:a16="http://schemas.microsoft.com/office/drawing/2014/main" id="{3D1706BC-5854-475C-BE47-1F9FE04C8B12}"/>
              </a:ext>
            </a:extLst>
          </p:cNvPr>
          <p:cNvSpPr txBox="1"/>
          <p:nvPr/>
        </p:nvSpPr>
        <p:spPr>
          <a:xfrm>
            <a:off x="15733606" y="10217395"/>
            <a:ext cx="8068225" cy="2375009"/>
          </a:xfrm>
          <a:prstGeom prst="rect">
            <a:avLst/>
          </a:prstGeom>
          <a:noFill/>
        </p:spPr>
        <p:txBody>
          <a:bodyPr wrap="square">
            <a:spAutoFit/>
          </a:bodyPr>
          <a:lstStyle/>
          <a:p>
            <a:pPr>
              <a:spcBef>
                <a:spcPts val="1000"/>
              </a:spcBef>
              <a:spcAft>
                <a:spcPts val="1000"/>
              </a:spcAft>
              <a:buNone/>
            </a:pPr>
            <a:r>
              <a:rPr lang="en-US" sz="2800" b="1" i="1" dirty="0">
                <a:effectLst/>
                <a:cs typeface="Arial" panose="020B0604020202020204" pitchFamily="34" charset="0"/>
              </a:rPr>
              <a:t>Model parameters and costs</a:t>
            </a:r>
            <a:endParaRPr lang="es-ES" sz="2800" b="1" i="1" dirty="0">
              <a:effectLst/>
              <a:cs typeface="Arial" panose="020B0604020202020204" pitchFamily="34" charset="0"/>
            </a:endParaRPr>
          </a:p>
          <a:p>
            <a:pPr>
              <a:spcAft>
                <a:spcPts val="1000"/>
              </a:spcAft>
              <a:buNone/>
            </a:pPr>
            <a:r>
              <a:rPr lang="en-US" sz="2800" dirty="0">
                <a:effectLst/>
                <a:ea typeface="Calibri" panose="020F0502020204030204" pitchFamily="34" charset="0"/>
                <a:cs typeface="Times New Roman" panose="02020603050405020304" pitchFamily="18" charset="0"/>
              </a:rPr>
              <a:t>Fig. 1 shows the model; table 1, the model parameters and transition probabilities; and table 2, the costs. The model was adjusted to fit AIDS mortality and new AIDS.</a:t>
            </a:r>
            <a:endParaRPr lang="es-ES" sz="2800" dirty="0">
              <a:effectLst/>
              <a:ea typeface="Calibri" panose="020F0502020204030204" pitchFamily="34" charset="0"/>
              <a:cs typeface="Times New Roman" panose="02020603050405020304" pitchFamily="18" charset="0"/>
            </a:endParaRPr>
          </a:p>
        </p:txBody>
      </p:sp>
      <p:graphicFrame>
        <p:nvGraphicFramePr>
          <p:cNvPr id="13" name="Tabla 12">
            <a:extLst>
              <a:ext uri="{FF2B5EF4-FFF2-40B4-BE49-F238E27FC236}">
                <a16:creationId xmlns:a16="http://schemas.microsoft.com/office/drawing/2014/main" id="{8980DF3E-46E5-B5E7-B214-978AE3C4F305}"/>
              </a:ext>
            </a:extLst>
          </p:cNvPr>
          <p:cNvGraphicFramePr>
            <a:graphicFrameLocks noGrp="1"/>
          </p:cNvGraphicFramePr>
          <p:nvPr>
            <p:extLst>
              <p:ext uri="{D42A27DB-BD31-4B8C-83A1-F6EECF244321}">
                <p14:modId xmlns:p14="http://schemas.microsoft.com/office/powerpoint/2010/main" val="1972363408"/>
              </p:ext>
            </p:extLst>
          </p:nvPr>
        </p:nvGraphicFramePr>
        <p:xfrm>
          <a:off x="24299674" y="9673022"/>
          <a:ext cx="8252434" cy="7057263"/>
        </p:xfrm>
        <a:graphic>
          <a:graphicData uri="http://schemas.openxmlformats.org/drawingml/2006/table">
            <a:tbl>
              <a:tblPr firstRow="1" firstCol="1" bandRow="1">
                <a:tableStyleId>{5C22544A-7EE6-4342-B048-85BDC9FD1C3A}</a:tableStyleId>
              </a:tblPr>
              <a:tblGrid>
                <a:gridCol w="1799447">
                  <a:extLst>
                    <a:ext uri="{9D8B030D-6E8A-4147-A177-3AD203B41FA5}">
                      <a16:colId xmlns:a16="http://schemas.microsoft.com/office/drawing/2014/main" val="3975858173"/>
                    </a:ext>
                  </a:extLst>
                </a:gridCol>
                <a:gridCol w="1116784">
                  <a:extLst>
                    <a:ext uri="{9D8B030D-6E8A-4147-A177-3AD203B41FA5}">
                      <a16:colId xmlns:a16="http://schemas.microsoft.com/office/drawing/2014/main" val="3584752319"/>
                    </a:ext>
                  </a:extLst>
                </a:gridCol>
                <a:gridCol w="1324730">
                  <a:extLst>
                    <a:ext uri="{9D8B030D-6E8A-4147-A177-3AD203B41FA5}">
                      <a16:colId xmlns:a16="http://schemas.microsoft.com/office/drawing/2014/main" val="70922956"/>
                    </a:ext>
                  </a:extLst>
                </a:gridCol>
                <a:gridCol w="1217029">
                  <a:extLst>
                    <a:ext uri="{9D8B030D-6E8A-4147-A177-3AD203B41FA5}">
                      <a16:colId xmlns:a16="http://schemas.microsoft.com/office/drawing/2014/main" val="2787411166"/>
                    </a:ext>
                  </a:extLst>
                </a:gridCol>
                <a:gridCol w="2794444">
                  <a:extLst>
                    <a:ext uri="{9D8B030D-6E8A-4147-A177-3AD203B41FA5}">
                      <a16:colId xmlns:a16="http://schemas.microsoft.com/office/drawing/2014/main" val="960957155"/>
                    </a:ext>
                  </a:extLst>
                </a:gridCol>
              </a:tblGrid>
              <a:tr h="173990">
                <a:tc>
                  <a:txBody>
                    <a:bodyPr/>
                    <a:lstStyle/>
                    <a:p>
                      <a:pPr algn="ctr">
                        <a:lnSpc>
                          <a:spcPct val="115000"/>
                        </a:lnSpc>
                        <a:spcAft>
                          <a:spcPts val="1000"/>
                        </a:spcAft>
                        <a:buNone/>
                      </a:pPr>
                      <a:r>
                        <a:rPr lang="en-GB" sz="1100">
                          <a:effectLst/>
                        </a:rPr>
                        <a:t>Item</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1000"/>
                        </a:spcAft>
                        <a:buNone/>
                      </a:pPr>
                      <a:r>
                        <a:rPr lang="en-GB" sz="1100">
                          <a:effectLst/>
                        </a:rPr>
                        <a:t>Unit cost (2023€)</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1000"/>
                        </a:spcAft>
                        <a:buNone/>
                      </a:pPr>
                      <a:r>
                        <a:rPr lang="en-GB" sz="1100">
                          <a:effectLst/>
                        </a:rPr>
                        <a:t>Annual units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1000"/>
                        </a:spcAft>
                        <a:buNone/>
                      </a:pPr>
                      <a:r>
                        <a:rPr lang="en-GB" sz="1100">
                          <a:effectLst/>
                        </a:rPr>
                        <a:t>Weekly cost</a:t>
                      </a:r>
                      <a:endParaRPr lang="es-ES" sz="1100">
                        <a:effectLst/>
                      </a:endParaRPr>
                    </a:p>
                    <a:p>
                      <a:pPr algn="ctr">
                        <a:lnSpc>
                          <a:spcPct val="115000"/>
                        </a:lnSpc>
                        <a:spcAft>
                          <a:spcPts val="1000"/>
                        </a:spcAft>
                        <a:buNone/>
                      </a:pPr>
                      <a:r>
                        <a:rPr lang="en-GB" sz="1100">
                          <a:effectLst/>
                        </a:rPr>
                        <a:t>(2023 €)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1000"/>
                        </a:spcAft>
                        <a:buNone/>
                      </a:pPr>
                      <a:r>
                        <a:rPr lang="en-GB" sz="1100">
                          <a:effectLst/>
                        </a:rPr>
                        <a:t>Source</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927977284"/>
                  </a:ext>
                </a:extLst>
              </a:tr>
              <a:tr h="173990">
                <a:tc>
                  <a:txBody>
                    <a:bodyPr/>
                    <a:lstStyle/>
                    <a:p>
                      <a:pPr>
                        <a:lnSpc>
                          <a:spcPct val="115000"/>
                        </a:lnSpc>
                        <a:spcAft>
                          <a:spcPts val="1000"/>
                        </a:spcAft>
                        <a:buNone/>
                      </a:pPr>
                      <a:r>
                        <a:rPr lang="en-GB" sz="1100">
                          <a:effectLst/>
                        </a:rPr>
                        <a:t>Patients on PrEP</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19054516"/>
                  </a:ext>
                </a:extLst>
              </a:tr>
              <a:tr h="173990">
                <a:tc>
                  <a:txBody>
                    <a:bodyPr/>
                    <a:lstStyle/>
                    <a:p>
                      <a:pPr>
                        <a:lnSpc>
                          <a:spcPct val="115000"/>
                        </a:lnSpc>
                        <a:spcAft>
                          <a:spcPts val="1000"/>
                        </a:spcAft>
                        <a:buNone/>
                      </a:pPr>
                      <a:r>
                        <a:rPr lang="en-GB" sz="1100">
                          <a:effectLst/>
                        </a:rPr>
                        <a:t>TDx/FTC</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0.97</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365</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6.8</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100">
                          <a:effectLst/>
                        </a:rPr>
                        <a:t>Spanish retail price</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478742698"/>
                  </a:ext>
                </a:extLst>
              </a:tr>
              <a:tr h="173990">
                <a:tc>
                  <a:txBody>
                    <a:bodyPr/>
                    <a:lstStyle/>
                    <a:p>
                      <a:pPr>
                        <a:lnSpc>
                          <a:spcPct val="115000"/>
                        </a:lnSpc>
                        <a:spcAft>
                          <a:spcPts val="1000"/>
                        </a:spcAft>
                        <a:buNone/>
                      </a:pPr>
                      <a:r>
                        <a:rPr lang="en-GB" sz="1100">
                          <a:effectLst/>
                        </a:rPr>
                        <a:t>LEN</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16.76</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365</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834.29</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100">
                          <a:effectLst/>
                        </a:rPr>
                        <a:t>Spanish retail price</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83212693"/>
                  </a:ext>
                </a:extLst>
              </a:tr>
              <a:tr h="173990">
                <a:tc>
                  <a:txBody>
                    <a:bodyPr/>
                    <a:lstStyle/>
                    <a:p>
                      <a:pPr>
                        <a:lnSpc>
                          <a:spcPct val="115000"/>
                        </a:lnSpc>
                        <a:spcAft>
                          <a:spcPts val="1000"/>
                        </a:spcAft>
                        <a:buNone/>
                      </a:pPr>
                      <a:r>
                        <a:rPr lang="en-GB" sz="1100">
                          <a:effectLst/>
                        </a:rPr>
                        <a:t>Nurse administration (only LEN arm)</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27</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2</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3.11</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rowSpan="13">
                  <a:txBody>
                    <a:bodyPr/>
                    <a:lstStyle/>
                    <a:p>
                      <a:pPr>
                        <a:lnSpc>
                          <a:spcPct val="115000"/>
                        </a:lnSpc>
                        <a:spcAft>
                          <a:spcPts val="1000"/>
                        </a:spcAft>
                        <a:buNone/>
                      </a:pPr>
                      <a:r>
                        <a:rPr lang="en-GB" sz="1100">
                          <a:effectLst/>
                        </a:rPr>
                        <a:t>The cost of each unit of resource has been estimated as the average of the public prices (to be applied by health centers to third parties obliged to pay or to users without the right to health care corresponding to the health services provided by the health services of the different autonomous communities)</a:t>
                      </a:r>
                      <a:endParaRPr lang="es-ES" sz="1100">
                        <a:effectLst/>
                      </a:endParaRPr>
                    </a:p>
                    <a:p>
                      <a:pP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1855364"/>
                  </a:ext>
                </a:extLst>
              </a:tr>
              <a:tr h="173990">
                <a:tc>
                  <a:txBody>
                    <a:bodyPr/>
                    <a:lstStyle/>
                    <a:p>
                      <a:pPr>
                        <a:lnSpc>
                          <a:spcPct val="115000"/>
                        </a:lnSpc>
                        <a:spcAft>
                          <a:spcPts val="1000"/>
                        </a:spcAft>
                        <a:buNone/>
                      </a:pPr>
                      <a:r>
                        <a:rPr lang="en-GB" sz="1100">
                          <a:effectLst/>
                        </a:rPr>
                        <a:t>HIV specialist 1st visit</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148.78</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1</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2.86</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3191628155"/>
                  </a:ext>
                </a:extLst>
              </a:tr>
              <a:tr h="173990">
                <a:tc>
                  <a:txBody>
                    <a:bodyPr/>
                    <a:lstStyle/>
                    <a:p>
                      <a:pPr>
                        <a:lnSpc>
                          <a:spcPct val="115000"/>
                        </a:lnSpc>
                        <a:spcAft>
                          <a:spcPts val="1000"/>
                        </a:spcAft>
                        <a:buNone/>
                      </a:pPr>
                      <a:r>
                        <a:rPr lang="en-GB" sz="1100">
                          <a:effectLst/>
                        </a:rPr>
                        <a:t>HIV specialist 2nd visit</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92.92</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1</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1.78</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3365239911"/>
                  </a:ext>
                </a:extLst>
              </a:tr>
              <a:tr h="173990">
                <a:tc>
                  <a:txBody>
                    <a:bodyPr/>
                    <a:lstStyle/>
                    <a:p>
                      <a:pPr>
                        <a:lnSpc>
                          <a:spcPct val="115000"/>
                        </a:lnSpc>
                        <a:spcAft>
                          <a:spcPts val="1000"/>
                        </a:spcAft>
                        <a:buNone/>
                      </a:pPr>
                      <a:r>
                        <a:rPr lang="en-GB" sz="1100">
                          <a:effectLst/>
                        </a:rPr>
                        <a:t>HIV serology</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13.53</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4</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6.99</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1016965913"/>
                  </a:ext>
                </a:extLst>
              </a:tr>
              <a:tr h="173990">
                <a:tc>
                  <a:txBody>
                    <a:bodyPr/>
                    <a:lstStyle/>
                    <a:p>
                      <a:pPr>
                        <a:lnSpc>
                          <a:spcPct val="115000"/>
                        </a:lnSpc>
                        <a:spcAft>
                          <a:spcPts val="1000"/>
                        </a:spcAft>
                        <a:buNone/>
                      </a:pPr>
                      <a:r>
                        <a:rPr lang="en-GB" sz="1100">
                          <a:effectLst/>
                        </a:rPr>
                        <a:t>Syphilis reaginic test</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7.30</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4</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0.56</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2003722316"/>
                  </a:ext>
                </a:extLst>
              </a:tr>
              <a:tr h="173990">
                <a:tc>
                  <a:txBody>
                    <a:bodyPr/>
                    <a:lstStyle/>
                    <a:p>
                      <a:pPr>
                        <a:lnSpc>
                          <a:spcPct val="115000"/>
                        </a:lnSpc>
                        <a:spcAft>
                          <a:spcPts val="1000"/>
                        </a:spcAft>
                        <a:buNone/>
                      </a:pPr>
                      <a:r>
                        <a:rPr lang="en-GB" sz="1100">
                          <a:effectLst/>
                        </a:rPr>
                        <a:t>TPHA test</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17.67</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4</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1.35</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1725636070"/>
                  </a:ext>
                </a:extLst>
              </a:tr>
              <a:tr h="173990">
                <a:tc>
                  <a:txBody>
                    <a:bodyPr/>
                    <a:lstStyle/>
                    <a:p>
                      <a:pPr>
                        <a:lnSpc>
                          <a:spcPct val="115000"/>
                        </a:lnSpc>
                        <a:spcAft>
                          <a:spcPts val="1000"/>
                        </a:spcAft>
                        <a:buNone/>
                      </a:pPr>
                      <a:r>
                        <a:rPr lang="en-GB" sz="1100">
                          <a:effectLst/>
                        </a:rPr>
                        <a:t>Hemogram</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4.34</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4</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0.33</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1151712478"/>
                  </a:ext>
                </a:extLst>
              </a:tr>
              <a:tr h="173990">
                <a:tc>
                  <a:txBody>
                    <a:bodyPr/>
                    <a:lstStyle/>
                    <a:p>
                      <a:pPr>
                        <a:lnSpc>
                          <a:spcPct val="115000"/>
                        </a:lnSpc>
                        <a:spcAft>
                          <a:spcPts val="1000"/>
                        </a:spcAft>
                        <a:buNone/>
                      </a:pPr>
                      <a:r>
                        <a:rPr lang="en-GB" sz="1100">
                          <a:effectLst/>
                        </a:rPr>
                        <a:t>Na and K+</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3.06</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4</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0.23</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522929364"/>
                  </a:ext>
                </a:extLst>
              </a:tr>
              <a:tr h="173990">
                <a:tc>
                  <a:txBody>
                    <a:bodyPr/>
                    <a:lstStyle/>
                    <a:p>
                      <a:pPr>
                        <a:lnSpc>
                          <a:spcPct val="115000"/>
                        </a:lnSpc>
                        <a:spcAft>
                          <a:spcPts val="1000"/>
                        </a:spcAft>
                        <a:buNone/>
                      </a:pPr>
                      <a:r>
                        <a:rPr lang="en-GB" sz="1100">
                          <a:effectLst/>
                        </a:rPr>
                        <a:t>Creatinine</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0.75</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4</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0.05</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3245533821"/>
                  </a:ext>
                </a:extLst>
              </a:tr>
              <a:tr h="173990">
                <a:tc>
                  <a:txBody>
                    <a:bodyPr/>
                    <a:lstStyle/>
                    <a:p>
                      <a:pPr>
                        <a:lnSpc>
                          <a:spcPct val="115000"/>
                        </a:lnSpc>
                        <a:spcAft>
                          <a:spcPts val="1000"/>
                        </a:spcAft>
                        <a:buNone/>
                      </a:pPr>
                      <a:r>
                        <a:rPr lang="en-GB" sz="1100">
                          <a:effectLst/>
                        </a:rPr>
                        <a:t>Glycemia</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0.71</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4</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0.05</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1025612725"/>
                  </a:ext>
                </a:extLst>
              </a:tr>
              <a:tr h="173990">
                <a:tc>
                  <a:txBody>
                    <a:bodyPr/>
                    <a:lstStyle/>
                    <a:p>
                      <a:pPr>
                        <a:lnSpc>
                          <a:spcPct val="115000"/>
                        </a:lnSpc>
                        <a:spcAft>
                          <a:spcPts val="1000"/>
                        </a:spcAft>
                        <a:buNone/>
                      </a:pPr>
                      <a:r>
                        <a:rPr lang="en-GB" sz="1100">
                          <a:effectLst/>
                        </a:rPr>
                        <a:t>Phosphorus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0.71</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4</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0.05</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2495125811"/>
                  </a:ext>
                </a:extLst>
              </a:tr>
              <a:tr h="173990">
                <a:tc>
                  <a:txBody>
                    <a:bodyPr/>
                    <a:lstStyle/>
                    <a:p>
                      <a:pPr>
                        <a:lnSpc>
                          <a:spcPct val="115000"/>
                        </a:lnSpc>
                        <a:spcAft>
                          <a:spcPts val="1000"/>
                        </a:spcAft>
                        <a:buNone/>
                      </a:pPr>
                      <a:r>
                        <a:rPr lang="en-GB" sz="1100">
                          <a:effectLst/>
                        </a:rPr>
                        <a:t>Transaminases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3.92</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4</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0.30</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436670086"/>
                  </a:ext>
                </a:extLst>
              </a:tr>
              <a:tr h="173990">
                <a:tc>
                  <a:txBody>
                    <a:bodyPr/>
                    <a:lstStyle/>
                    <a:p>
                      <a:pPr>
                        <a:lnSpc>
                          <a:spcPct val="115000"/>
                        </a:lnSpc>
                        <a:spcAft>
                          <a:spcPts val="1000"/>
                        </a:spcAft>
                        <a:buNone/>
                      </a:pPr>
                      <a:r>
                        <a:rPr lang="en-GB" sz="1100">
                          <a:effectLst/>
                        </a:rPr>
                        <a:t>Urine sediment</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4.31</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4</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0.33</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486768868"/>
                  </a:ext>
                </a:extLst>
              </a:tr>
              <a:tr h="173990">
                <a:tc>
                  <a:txBody>
                    <a:bodyPr/>
                    <a:lstStyle/>
                    <a:p>
                      <a:pPr>
                        <a:lnSpc>
                          <a:spcPct val="115000"/>
                        </a:lnSpc>
                        <a:spcAft>
                          <a:spcPts val="1000"/>
                        </a:spcAft>
                        <a:buNone/>
                      </a:pPr>
                      <a:r>
                        <a:rPr lang="en-GB" sz="1100">
                          <a:effectLst/>
                        </a:rPr>
                        <a:t>PCR for Chlamydia and Gonococcus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85.38</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4</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6.56</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Lopez-Seguí et al.</a:t>
                      </a:r>
                      <a:r>
                        <a:rPr lang="en-GB" sz="1100" baseline="30000">
                          <a:effectLst/>
                        </a:rPr>
                        <a:t>33</a:t>
                      </a: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6248072"/>
                  </a:ext>
                </a:extLst>
              </a:tr>
              <a:tr h="173990">
                <a:tc>
                  <a:txBody>
                    <a:bodyPr/>
                    <a:lstStyle/>
                    <a:p>
                      <a:pPr>
                        <a:lnSpc>
                          <a:spcPct val="115000"/>
                        </a:lnSpc>
                        <a:spcAft>
                          <a:spcPts val="1000"/>
                        </a:spcAft>
                        <a:buNone/>
                      </a:pPr>
                      <a:r>
                        <a:rPr lang="en-GB" sz="1100">
                          <a:effectLst/>
                        </a:rPr>
                        <a:t>Total TDx/FTC</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20.99</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331202"/>
                  </a:ext>
                </a:extLst>
              </a:tr>
              <a:tr h="173990">
                <a:tc>
                  <a:txBody>
                    <a:bodyPr/>
                    <a:lstStyle/>
                    <a:p>
                      <a:pPr>
                        <a:lnSpc>
                          <a:spcPct val="115000"/>
                        </a:lnSpc>
                        <a:spcAft>
                          <a:spcPts val="1000"/>
                        </a:spcAft>
                        <a:buNone/>
                      </a:pPr>
                      <a:r>
                        <a:rPr lang="en-GB" sz="1100">
                          <a:effectLst/>
                        </a:rPr>
                        <a:t>Total LEN</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834.29</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63325756"/>
                  </a:ext>
                </a:extLst>
              </a:tr>
              <a:tr h="173990">
                <a:tc>
                  <a:txBody>
                    <a:bodyPr/>
                    <a:lstStyle/>
                    <a:p>
                      <a:pP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90111583"/>
                  </a:ext>
                </a:extLst>
              </a:tr>
              <a:tr h="173990">
                <a:tc>
                  <a:txBody>
                    <a:bodyPr/>
                    <a:lstStyle/>
                    <a:p>
                      <a:pPr>
                        <a:lnSpc>
                          <a:spcPct val="115000"/>
                        </a:lnSpc>
                        <a:spcAft>
                          <a:spcPts val="1000"/>
                        </a:spcAft>
                        <a:buNone/>
                      </a:pPr>
                      <a:r>
                        <a:rPr lang="en-GB" sz="1100">
                          <a:effectLst/>
                        </a:rPr>
                        <a:t>Patients on ART</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11314354"/>
                  </a:ext>
                </a:extLst>
              </a:tr>
              <a:tr h="173990">
                <a:tc>
                  <a:txBody>
                    <a:bodyPr/>
                    <a:lstStyle/>
                    <a:p>
                      <a:pPr>
                        <a:lnSpc>
                          <a:spcPct val="115000"/>
                        </a:lnSpc>
                        <a:spcAft>
                          <a:spcPts val="1000"/>
                        </a:spcAft>
                        <a:buNone/>
                      </a:pPr>
                      <a:r>
                        <a:rPr lang="en-GB" sz="1100">
                          <a:effectLst/>
                        </a:rPr>
                        <a:t>ART</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 23.56</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365</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165.38</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rowSpan="12">
                  <a:txBody>
                    <a:bodyPr/>
                    <a:lstStyle/>
                    <a:p>
                      <a:pPr>
                        <a:lnSpc>
                          <a:spcPct val="115000"/>
                        </a:lnSpc>
                        <a:spcAft>
                          <a:spcPts val="1000"/>
                        </a:spcAft>
                        <a:buNone/>
                      </a:pPr>
                      <a:r>
                        <a:rPr lang="en-GB" sz="1100" dirty="0">
                          <a:effectLst/>
                        </a:rPr>
                        <a:t>The cost of each unit of resource has been estimated as the average of the public prices (to be applied by health </a:t>
                      </a:r>
                      <a:r>
                        <a:rPr lang="en-GB" sz="1100" dirty="0" err="1">
                          <a:effectLst/>
                        </a:rPr>
                        <a:t>centers</a:t>
                      </a:r>
                      <a:r>
                        <a:rPr lang="en-GB" sz="1100" dirty="0">
                          <a:effectLst/>
                        </a:rPr>
                        <a:t> to third parties obliged to pay or to users without the right to health care corresponding to the health services provided by the health services of the different Autonomous Communities)</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48876769"/>
                  </a:ext>
                </a:extLst>
              </a:tr>
              <a:tr h="173990">
                <a:tc>
                  <a:txBody>
                    <a:bodyPr/>
                    <a:lstStyle/>
                    <a:p>
                      <a:pPr>
                        <a:lnSpc>
                          <a:spcPct val="115000"/>
                        </a:lnSpc>
                        <a:spcAft>
                          <a:spcPts val="1000"/>
                        </a:spcAft>
                        <a:buNone/>
                      </a:pPr>
                      <a:r>
                        <a:rPr lang="en-GB" sz="1100">
                          <a:effectLst/>
                        </a:rPr>
                        <a:t>Test for resistances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328</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1</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6.30</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886970364"/>
                  </a:ext>
                </a:extLst>
              </a:tr>
              <a:tr h="173990">
                <a:tc>
                  <a:txBody>
                    <a:bodyPr/>
                    <a:lstStyle/>
                    <a:p>
                      <a:pPr>
                        <a:lnSpc>
                          <a:spcPct val="115000"/>
                        </a:lnSpc>
                        <a:spcAft>
                          <a:spcPts val="1000"/>
                        </a:spcAft>
                        <a:buNone/>
                      </a:pPr>
                      <a:r>
                        <a:rPr lang="en-GB" sz="1100">
                          <a:effectLst/>
                        </a:rPr>
                        <a:t>Viral load</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96.81</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2</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3.72</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1681147994"/>
                  </a:ext>
                </a:extLst>
              </a:tr>
              <a:tr h="173990">
                <a:tc>
                  <a:txBody>
                    <a:bodyPr/>
                    <a:lstStyle/>
                    <a:p>
                      <a:pPr>
                        <a:lnSpc>
                          <a:spcPct val="115000"/>
                        </a:lnSpc>
                        <a:spcAft>
                          <a:spcPts val="1000"/>
                        </a:spcAft>
                        <a:buNone/>
                      </a:pPr>
                      <a:r>
                        <a:rPr lang="en-GB" sz="1100">
                          <a:effectLst/>
                        </a:rPr>
                        <a:t>CD4 count</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25.17</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2</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0.96</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699452568"/>
                  </a:ext>
                </a:extLst>
              </a:tr>
              <a:tr h="173990">
                <a:tc>
                  <a:txBody>
                    <a:bodyPr/>
                    <a:lstStyle/>
                    <a:p>
                      <a:pPr>
                        <a:lnSpc>
                          <a:spcPct val="115000"/>
                        </a:lnSpc>
                        <a:spcAft>
                          <a:spcPts val="1000"/>
                        </a:spcAft>
                        <a:buNone/>
                      </a:pPr>
                      <a:r>
                        <a:rPr lang="en-GB" sz="1100">
                          <a:effectLst/>
                        </a:rPr>
                        <a:t>Consultation</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427.54</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1</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8.22</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3572484653"/>
                  </a:ext>
                </a:extLst>
              </a:tr>
              <a:tr h="173990">
                <a:tc>
                  <a:txBody>
                    <a:bodyPr/>
                    <a:lstStyle/>
                    <a:p>
                      <a:pPr>
                        <a:lnSpc>
                          <a:spcPct val="115000"/>
                        </a:lnSpc>
                        <a:spcAft>
                          <a:spcPts val="1000"/>
                        </a:spcAft>
                        <a:buNone/>
                      </a:pPr>
                      <a:r>
                        <a:rPr lang="en-GB" sz="1100">
                          <a:effectLst/>
                        </a:rPr>
                        <a:t>HLA-B5701</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151</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Once in life</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2.90</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3437722781"/>
                  </a:ext>
                </a:extLst>
              </a:tr>
              <a:tr h="173990">
                <a:tc>
                  <a:txBody>
                    <a:bodyPr/>
                    <a:lstStyle/>
                    <a:p>
                      <a:pPr>
                        <a:lnSpc>
                          <a:spcPct val="115000"/>
                        </a:lnSpc>
                        <a:spcAft>
                          <a:spcPts val="1000"/>
                        </a:spcAft>
                        <a:buNone/>
                      </a:pPr>
                      <a:r>
                        <a:rPr lang="en-GB" sz="1100">
                          <a:effectLst/>
                        </a:rPr>
                        <a:t>Hemogram</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4.34</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2</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0.33</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4132560833"/>
                  </a:ext>
                </a:extLst>
              </a:tr>
              <a:tr h="173990">
                <a:tc>
                  <a:txBody>
                    <a:bodyPr/>
                    <a:lstStyle/>
                    <a:p>
                      <a:pPr>
                        <a:lnSpc>
                          <a:spcPct val="115000"/>
                        </a:lnSpc>
                        <a:spcAft>
                          <a:spcPts val="1000"/>
                        </a:spcAft>
                        <a:buNone/>
                      </a:pPr>
                      <a:r>
                        <a:rPr lang="en-GB" sz="1100">
                          <a:effectLst/>
                        </a:rPr>
                        <a:t>Na and K+</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3.06</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2</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0.23</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79128803"/>
                  </a:ext>
                </a:extLst>
              </a:tr>
              <a:tr h="173990">
                <a:tc>
                  <a:txBody>
                    <a:bodyPr/>
                    <a:lstStyle/>
                    <a:p>
                      <a:pPr>
                        <a:lnSpc>
                          <a:spcPct val="115000"/>
                        </a:lnSpc>
                        <a:spcAft>
                          <a:spcPts val="1000"/>
                        </a:spcAft>
                        <a:buNone/>
                      </a:pPr>
                      <a:r>
                        <a:rPr lang="en-GB" sz="1100">
                          <a:effectLst/>
                        </a:rPr>
                        <a:t>Creatinine</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0.75</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2</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0.05</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2696978946"/>
                  </a:ext>
                </a:extLst>
              </a:tr>
              <a:tr h="173990">
                <a:tc>
                  <a:txBody>
                    <a:bodyPr/>
                    <a:lstStyle/>
                    <a:p>
                      <a:pPr>
                        <a:lnSpc>
                          <a:spcPct val="115000"/>
                        </a:lnSpc>
                        <a:spcAft>
                          <a:spcPts val="1000"/>
                        </a:spcAft>
                        <a:buNone/>
                      </a:pPr>
                      <a:r>
                        <a:rPr lang="en-GB" sz="1100">
                          <a:effectLst/>
                        </a:rPr>
                        <a:t>Glycemia</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0.71</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2</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0.05</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3618151257"/>
                  </a:ext>
                </a:extLst>
              </a:tr>
              <a:tr h="46355">
                <a:tc>
                  <a:txBody>
                    <a:bodyPr/>
                    <a:lstStyle/>
                    <a:p>
                      <a:pPr>
                        <a:lnSpc>
                          <a:spcPct val="115000"/>
                        </a:lnSpc>
                        <a:spcAft>
                          <a:spcPts val="1000"/>
                        </a:spcAft>
                        <a:buNone/>
                      </a:pPr>
                      <a:r>
                        <a:rPr lang="en-GB" sz="1100">
                          <a:effectLst/>
                        </a:rPr>
                        <a:t>Phosphorus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0.71</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2</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0.05</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3935456360"/>
                  </a:ext>
                </a:extLst>
              </a:tr>
              <a:tr h="173990">
                <a:tc>
                  <a:txBody>
                    <a:bodyPr/>
                    <a:lstStyle/>
                    <a:p>
                      <a:pPr>
                        <a:lnSpc>
                          <a:spcPct val="115000"/>
                        </a:lnSpc>
                        <a:spcAft>
                          <a:spcPts val="1000"/>
                        </a:spcAft>
                        <a:buNone/>
                      </a:pPr>
                      <a:r>
                        <a:rPr lang="en-GB" sz="1100">
                          <a:effectLst/>
                        </a:rPr>
                        <a:t>Transaminases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3.92</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2</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0.30</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1982528668"/>
                  </a:ext>
                </a:extLst>
              </a:tr>
              <a:tr h="173990">
                <a:tc>
                  <a:txBody>
                    <a:bodyPr/>
                    <a:lstStyle/>
                    <a:p>
                      <a:pPr>
                        <a:lnSpc>
                          <a:spcPct val="115000"/>
                        </a:lnSpc>
                        <a:spcAft>
                          <a:spcPts val="1000"/>
                        </a:spcAft>
                        <a:buNone/>
                      </a:pPr>
                      <a:r>
                        <a:rPr lang="en-GB" sz="1100">
                          <a:effectLst/>
                        </a:rPr>
                        <a:t>Total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100">
                          <a:effectLst/>
                        </a:rPr>
                        <a:t> </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a:effectLst/>
                        </a:rPr>
                        <a:t>188.54</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100" dirty="0">
                          <a:effectLst/>
                        </a:rPr>
                        <a:t> </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08311086"/>
                  </a:ext>
                </a:extLst>
              </a:tr>
            </a:tbl>
          </a:graphicData>
        </a:graphic>
      </p:graphicFrame>
      <p:sp>
        <p:nvSpPr>
          <p:cNvPr id="15" name="CuadroTexto 14">
            <a:extLst>
              <a:ext uri="{FF2B5EF4-FFF2-40B4-BE49-F238E27FC236}">
                <a16:creationId xmlns:a16="http://schemas.microsoft.com/office/drawing/2014/main" id="{1A8C698E-B6A5-50A1-1A2A-BD29761E65E9}"/>
              </a:ext>
            </a:extLst>
          </p:cNvPr>
          <p:cNvSpPr txBox="1"/>
          <p:nvPr/>
        </p:nvSpPr>
        <p:spPr>
          <a:xfrm>
            <a:off x="24299675" y="8921636"/>
            <a:ext cx="7731265" cy="584775"/>
          </a:xfrm>
          <a:prstGeom prst="rect">
            <a:avLst/>
          </a:prstGeom>
          <a:noFill/>
        </p:spPr>
        <p:txBody>
          <a:bodyPr wrap="square">
            <a:spAutoFit/>
          </a:bodyPr>
          <a:lstStyle/>
          <a:p>
            <a:pPr>
              <a:spcAft>
                <a:spcPts val="1000"/>
              </a:spcAft>
              <a:buNone/>
            </a:pPr>
            <a:r>
              <a:rPr lang="en-GB" sz="1600" b="1" dirty="0">
                <a:effectLst/>
                <a:ea typeface="Calibri" panose="020F0502020204030204" pitchFamily="34" charset="0"/>
                <a:cs typeface="Times New Roman" panose="02020603050405020304" pitchFamily="18" charset="0"/>
              </a:rPr>
              <a:t>Table 2. </a:t>
            </a:r>
            <a:r>
              <a:rPr lang="en-GB" sz="1600" dirty="0">
                <a:effectLst/>
                <a:ea typeface="Calibri" panose="020F0502020204030204" pitchFamily="34" charset="0"/>
                <a:cs typeface="Times New Roman" panose="02020603050405020304" pitchFamily="18" charset="0"/>
              </a:rPr>
              <a:t>Costs of patients on </a:t>
            </a:r>
            <a:r>
              <a:rPr lang="en-GB" sz="1600" dirty="0" err="1">
                <a:effectLst/>
                <a:ea typeface="Calibri" panose="020F0502020204030204" pitchFamily="34" charset="0"/>
                <a:cs typeface="Times New Roman" panose="02020603050405020304" pitchFamily="18" charset="0"/>
              </a:rPr>
              <a:t>PrEP</a:t>
            </a:r>
            <a:r>
              <a:rPr lang="en-GB" sz="1600" dirty="0">
                <a:effectLst/>
                <a:ea typeface="Calibri" panose="020F0502020204030204" pitchFamily="34" charset="0"/>
                <a:cs typeface="Times New Roman" panose="02020603050405020304" pitchFamily="18" charset="0"/>
              </a:rPr>
              <a:t> and costs of patients on ART used for the </a:t>
            </a:r>
            <a:r>
              <a:rPr lang="en-GB" sz="1600" dirty="0" err="1">
                <a:effectLst/>
                <a:ea typeface="Calibri" panose="020F0502020204030204" pitchFamily="34" charset="0"/>
                <a:cs typeface="Times New Roman" panose="02020603050405020304" pitchFamily="18" charset="0"/>
              </a:rPr>
              <a:t>PrEP</a:t>
            </a:r>
            <a:r>
              <a:rPr lang="en-GB" sz="1600" dirty="0">
                <a:effectLst/>
                <a:ea typeface="Calibri" panose="020F0502020204030204" pitchFamily="34" charset="0"/>
                <a:cs typeface="Times New Roman" panose="02020603050405020304" pitchFamily="18" charset="0"/>
              </a:rPr>
              <a:t> cost-effectiveness calculation.</a:t>
            </a:r>
            <a:endParaRPr lang="es-ES" sz="1600" dirty="0">
              <a:effectLst/>
              <a:ea typeface="Calibri" panose="020F0502020204030204" pitchFamily="34" charset="0"/>
              <a:cs typeface="Times New Roman" panose="02020603050405020304" pitchFamily="18" charset="0"/>
            </a:endParaRPr>
          </a:p>
        </p:txBody>
      </p:sp>
      <p:sp>
        <p:nvSpPr>
          <p:cNvPr id="21" name="CuadroTexto 20">
            <a:extLst>
              <a:ext uri="{FF2B5EF4-FFF2-40B4-BE49-F238E27FC236}">
                <a16:creationId xmlns:a16="http://schemas.microsoft.com/office/drawing/2014/main" id="{7A1E1E4F-9D49-3756-9E18-2EA5D276489D}"/>
              </a:ext>
            </a:extLst>
          </p:cNvPr>
          <p:cNvSpPr txBox="1"/>
          <p:nvPr/>
        </p:nvSpPr>
        <p:spPr>
          <a:xfrm>
            <a:off x="24206146" y="24112405"/>
            <a:ext cx="8447560" cy="3108543"/>
          </a:xfrm>
          <a:prstGeom prst="rect">
            <a:avLst/>
          </a:prstGeom>
          <a:noFill/>
        </p:spPr>
        <p:txBody>
          <a:bodyPr wrap="square">
            <a:spAutoFit/>
          </a:bodyPr>
          <a:lstStyle/>
          <a:p>
            <a:r>
              <a:rPr lang="en-US" sz="2800" b="0" i="0" u="none" strike="noStrike" baseline="0" dirty="0">
                <a:solidFill>
                  <a:srgbClr val="212529"/>
                </a:solidFill>
              </a:rPr>
              <a:t>Adherence and number of GBMSM living with HIV were the main variables affecting the ICER in a deterministic sensitivity analysis. However, it did not come close to WTP. A probabilistic sensitivity analysis was also undertaken (Fig 2) where the cost was iterated down to €4,320 per six-month dose yielding a probability of cost-</a:t>
            </a:r>
            <a:r>
              <a:rPr lang="en-US" sz="2800" b="0" i="0" u="none" strike="noStrike" baseline="0" dirty="0" err="1">
                <a:solidFill>
                  <a:srgbClr val="212529"/>
                </a:solidFill>
              </a:rPr>
              <a:t>ffectiveness</a:t>
            </a:r>
            <a:r>
              <a:rPr lang="en-US" sz="2800" b="0" i="0" u="none" strike="noStrike" baseline="0" dirty="0">
                <a:solidFill>
                  <a:srgbClr val="212529"/>
                </a:solidFill>
              </a:rPr>
              <a:t> </a:t>
            </a:r>
            <a:r>
              <a:rPr lang="es-ES" sz="2800" b="0" i="0" u="none" strike="noStrike" baseline="0" dirty="0" err="1">
                <a:solidFill>
                  <a:srgbClr val="212529"/>
                </a:solidFill>
              </a:rPr>
              <a:t>of</a:t>
            </a:r>
            <a:r>
              <a:rPr lang="es-ES" sz="2800" b="0" i="0" u="none" strike="noStrike" baseline="0" dirty="0">
                <a:solidFill>
                  <a:srgbClr val="212529"/>
                </a:solidFill>
              </a:rPr>
              <a:t> 93.6%.</a:t>
            </a:r>
            <a:endParaRPr lang="es-ES" sz="2800" dirty="0"/>
          </a:p>
        </p:txBody>
      </p:sp>
      <p:graphicFrame>
        <p:nvGraphicFramePr>
          <p:cNvPr id="22" name="Tabla 21">
            <a:extLst>
              <a:ext uri="{FF2B5EF4-FFF2-40B4-BE49-F238E27FC236}">
                <a16:creationId xmlns:a16="http://schemas.microsoft.com/office/drawing/2014/main" id="{3D28B2C7-0DC8-681B-DE89-C5979B8B9B73}"/>
              </a:ext>
            </a:extLst>
          </p:cNvPr>
          <p:cNvGraphicFramePr>
            <a:graphicFrameLocks noGrp="1"/>
          </p:cNvGraphicFramePr>
          <p:nvPr>
            <p:extLst>
              <p:ext uri="{D42A27DB-BD31-4B8C-83A1-F6EECF244321}">
                <p14:modId xmlns:p14="http://schemas.microsoft.com/office/powerpoint/2010/main" val="3820878886"/>
              </p:ext>
            </p:extLst>
          </p:nvPr>
        </p:nvGraphicFramePr>
        <p:xfrm>
          <a:off x="24299674" y="21625382"/>
          <a:ext cx="8354032" cy="1997902"/>
        </p:xfrm>
        <a:graphic>
          <a:graphicData uri="http://schemas.openxmlformats.org/drawingml/2006/table">
            <a:tbl>
              <a:tblPr firstRow="1" firstCol="1" bandRow="1">
                <a:tableStyleId>{5C22544A-7EE6-4342-B048-85BDC9FD1C3A}</a:tableStyleId>
              </a:tblPr>
              <a:tblGrid>
                <a:gridCol w="1349805">
                  <a:extLst>
                    <a:ext uri="{9D8B030D-6E8A-4147-A177-3AD203B41FA5}">
                      <a16:colId xmlns:a16="http://schemas.microsoft.com/office/drawing/2014/main" val="1769984249"/>
                    </a:ext>
                  </a:extLst>
                </a:gridCol>
                <a:gridCol w="1256056">
                  <a:extLst>
                    <a:ext uri="{9D8B030D-6E8A-4147-A177-3AD203B41FA5}">
                      <a16:colId xmlns:a16="http://schemas.microsoft.com/office/drawing/2014/main" val="1735006807"/>
                    </a:ext>
                  </a:extLst>
                </a:gridCol>
                <a:gridCol w="1697021">
                  <a:extLst>
                    <a:ext uri="{9D8B030D-6E8A-4147-A177-3AD203B41FA5}">
                      <a16:colId xmlns:a16="http://schemas.microsoft.com/office/drawing/2014/main" val="1927072019"/>
                    </a:ext>
                  </a:extLst>
                </a:gridCol>
                <a:gridCol w="1106753">
                  <a:extLst>
                    <a:ext uri="{9D8B030D-6E8A-4147-A177-3AD203B41FA5}">
                      <a16:colId xmlns:a16="http://schemas.microsoft.com/office/drawing/2014/main" val="4230557320"/>
                    </a:ext>
                  </a:extLst>
                </a:gridCol>
                <a:gridCol w="1599801">
                  <a:extLst>
                    <a:ext uri="{9D8B030D-6E8A-4147-A177-3AD203B41FA5}">
                      <a16:colId xmlns:a16="http://schemas.microsoft.com/office/drawing/2014/main" val="3526073779"/>
                    </a:ext>
                  </a:extLst>
                </a:gridCol>
                <a:gridCol w="1344596">
                  <a:extLst>
                    <a:ext uri="{9D8B030D-6E8A-4147-A177-3AD203B41FA5}">
                      <a16:colId xmlns:a16="http://schemas.microsoft.com/office/drawing/2014/main" val="993166280"/>
                    </a:ext>
                  </a:extLst>
                </a:gridCol>
              </a:tblGrid>
              <a:tr h="744855">
                <a:tc>
                  <a:txBody>
                    <a:bodyPr/>
                    <a:lstStyle/>
                    <a:p>
                      <a:pPr algn="ctr">
                        <a:lnSpc>
                          <a:spcPct val="200000"/>
                        </a:lnSpc>
                        <a:spcAft>
                          <a:spcPts val="1000"/>
                        </a:spcAft>
                        <a:buNone/>
                      </a:pPr>
                      <a:r>
                        <a:rPr lang="en-US" sz="1100">
                          <a:effectLst/>
                        </a:rPr>
                        <a:t>Strategy</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200000"/>
                        </a:lnSpc>
                        <a:spcAft>
                          <a:spcPts val="1000"/>
                        </a:spcAft>
                        <a:buNone/>
                      </a:pPr>
                      <a:r>
                        <a:rPr lang="en-US" sz="1100">
                          <a:effectLst/>
                        </a:rPr>
                        <a:t>QALYs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200000"/>
                        </a:lnSpc>
                        <a:spcAft>
                          <a:spcPts val="1000"/>
                        </a:spcAft>
                        <a:buNone/>
                      </a:pPr>
                      <a:r>
                        <a:rPr lang="en-US" sz="1100" dirty="0">
                          <a:effectLst/>
                        </a:rPr>
                        <a:t>Costs </a:t>
                      </a:r>
                      <a:br>
                        <a:rPr lang="en-US" sz="1100" dirty="0">
                          <a:effectLst/>
                        </a:rPr>
                      </a:br>
                      <a:r>
                        <a:rPr lang="en-US" sz="1100" dirty="0">
                          <a:effectLst/>
                        </a:rPr>
                        <a:t>(2023€)</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200000"/>
                        </a:lnSpc>
                        <a:spcAft>
                          <a:spcPts val="1000"/>
                        </a:spcAft>
                        <a:buNone/>
                      </a:pPr>
                      <a:r>
                        <a:rPr lang="en-US" sz="1100">
                          <a:effectLst/>
                        </a:rPr>
                        <a:t>Incremental QALYs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200000"/>
                        </a:lnSpc>
                        <a:spcAft>
                          <a:spcPts val="1000"/>
                        </a:spcAft>
                        <a:buNone/>
                      </a:pPr>
                      <a:r>
                        <a:rPr lang="en-US" sz="1100" dirty="0">
                          <a:effectLst/>
                        </a:rPr>
                        <a:t>Incremental Costs (2023€)</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200000"/>
                        </a:lnSpc>
                        <a:spcAft>
                          <a:spcPts val="1000"/>
                        </a:spcAft>
                        <a:buNone/>
                      </a:pPr>
                      <a:r>
                        <a:rPr lang="en-US" sz="1100">
                          <a:effectLst/>
                        </a:rPr>
                        <a:t>ICER</a:t>
                      </a:r>
                      <a:endParaRPr lang="es-ES" sz="1100">
                        <a:effectLst/>
                      </a:endParaRPr>
                    </a:p>
                    <a:p>
                      <a:pPr algn="ctr">
                        <a:lnSpc>
                          <a:spcPct val="200000"/>
                        </a:lnSpc>
                        <a:spcAft>
                          <a:spcPts val="1000"/>
                        </a:spcAft>
                        <a:buNone/>
                      </a:pPr>
                      <a:r>
                        <a:rPr lang="en-US" sz="1100">
                          <a:effectLst/>
                        </a:rPr>
                        <a:t>incremental costs 2023€/ incremental QALYs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142451329"/>
                  </a:ext>
                </a:extLst>
              </a:tr>
              <a:tr h="253365">
                <a:tc>
                  <a:txBody>
                    <a:bodyPr/>
                    <a:lstStyle/>
                    <a:p>
                      <a:pPr>
                        <a:lnSpc>
                          <a:spcPct val="200000"/>
                        </a:lnSpc>
                        <a:spcAft>
                          <a:spcPts val="1000"/>
                        </a:spcAft>
                        <a:buNone/>
                      </a:pPr>
                      <a:r>
                        <a:rPr lang="en-US" sz="1100">
                          <a:effectLst/>
                        </a:rPr>
                        <a:t>TDx/FTC</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200000"/>
                        </a:lnSpc>
                        <a:spcAft>
                          <a:spcPts val="1000"/>
                        </a:spcAft>
                        <a:buNone/>
                      </a:pPr>
                      <a:r>
                        <a:rPr lang="en-US" sz="1100">
                          <a:effectLst/>
                        </a:rPr>
                        <a:t>8,546,030</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200000"/>
                        </a:lnSpc>
                        <a:spcAft>
                          <a:spcPts val="1000"/>
                        </a:spcAft>
                        <a:buNone/>
                      </a:pPr>
                      <a:r>
                        <a:rPr lang="en-US" sz="1100">
                          <a:effectLst/>
                        </a:rPr>
                        <a:t>8,457,028,025</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200000"/>
                        </a:lnSpc>
                        <a:spcAft>
                          <a:spcPts val="1000"/>
                        </a:spcAft>
                        <a:buNone/>
                      </a:pPr>
                      <a:r>
                        <a:rPr lang="en-US" sz="1100">
                          <a:effectLst/>
                        </a:rPr>
                        <a:t>Baseline</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200000"/>
                        </a:lnSpc>
                        <a:spcAft>
                          <a:spcPts val="1000"/>
                        </a:spcAft>
                        <a:buNone/>
                      </a:pPr>
                      <a:r>
                        <a:rPr lang="en-US" sz="1100">
                          <a:effectLst/>
                        </a:rPr>
                        <a:t>Baseline</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200000"/>
                        </a:lnSpc>
                        <a:spcAft>
                          <a:spcPts val="1000"/>
                        </a:spcAft>
                        <a:buNone/>
                      </a:pPr>
                      <a:r>
                        <a:rPr lang="en-US" sz="1100">
                          <a:effectLst/>
                        </a:rPr>
                        <a:t>Baseline</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91842504"/>
                  </a:ext>
                </a:extLst>
              </a:tr>
              <a:tr h="262255">
                <a:tc>
                  <a:txBody>
                    <a:bodyPr/>
                    <a:lstStyle/>
                    <a:p>
                      <a:pPr>
                        <a:lnSpc>
                          <a:spcPct val="200000"/>
                        </a:lnSpc>
                        <a:spcAft>
                          <a:spcPts val="1000"/>
                        </a:spcAft>
                        <a:buNone/>
                      </a:pPr>
                      <a:r>
                        <a:rPr lang="en-US" sz="1100">
                          <a:effectLst/>
                        </a:rPr>
                        <a:t>LEN</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200000"/>
                        </a:lnSpc>
                        <a:spcAft>
                          <a:spcPts val="1000"/>
                        </a:spcAft>
                        <a:buNone/>
                      </a:pPr>
                      <a:r>
                        <a:rPr lang="en-US" sz="1100">
                          <a:effectLst/>
                        </a:rPr>
                        <a:t>9,030,933</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200000"/>
                        </a:lnSpc>
                        <a:spcAft>
                          <a:spcPts val="1000"/>
                        </a:spcAft>
                        <a:buNone/>
                      </a:pPr>
                      <a:r>
                        <a:rPr lang="en-US" sz="1100">
                          <a:effectLst/>
                        </a:rPr>
                        <a:t>47,062,063,906</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200000"/>
                        </a:lnSpc>
                        <a:spcAft>
                          <a:spcPts val="1000"/>
                        </a:spcAft>
                        <a:buNone/>
                      </a:pPr>
                      <a:r>
                        <a:rPr lang="en-US" sz="1100">
                          <a:effectLst/>
                        </a:rPr>
                        <a:t>484,903.7</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200000"/>
                        </a:lnSpc>
                        <a:spcAft>
                          <a:spcPts val="1000"/>
                        </a:spcAft>
                        <a:buNone/>
                      </a:pPr>
                      <a:r>
                        <a:rPr lang="en-US" sz="1100" dirty="0">
                          <a:effectLst/>
                        </a:rPr>
                        <a:t>38,605,035,881</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200000"/>
                        </a:lnSpc>
                        <a:spcAft>
                          <a:spcPts val="1000"/>
                        </a:spcAft>
                        <a:buNone/>
                      </a:pPr>
                      <a:r>
                        <a:rPr lang="en-US" sz="1100" dirty="0">
                          <a:effectLst/>
                        </a:rPr>
                        <a:t>79,613.82</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59375201"/>
                  </a:ext>
                </a:extLst>
              </a:tr>
            </a:tbl>
          </a:graphicData>
        </a:graphic>
      </p:graphicFrame>
      <p:pic>
        <p:nvPicPr>
          <p:cNvPr id="24" name="Imagen 23">
            <a:extLst>
              <a:ext uri="{FF2B5EF4-FFF2-40B4-BE49-F238E27FC236}">
                <a16:creationId xmlns:a16="http://schemas.microsoft.com/office/drawing/2014/main" id="{1FB2AE17-BE71-102B-C26D-890FF8D8D6B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3209762" y="9121569"/>
            <a:ext cx="6429751" cy="3968162"/>
          </a:xfrm>
          <a:prstGeom prst="rect">
            <a:avLst/>
          </a:prstGeom>
          <a:noFill/>
        </p:spPr>
      </p:pic>
      <p:pic>
        <p:nvPicPr>
          <p:cNvPr id="40" name="Imagen 39">
            <a:extLst>
              <a:ext uri="{FF2B5EF4-FFF2-40B4-BE49-F238E27FC236}">
                <a16:creationId xmlns:a16="http://schemas.microsoft.com/office/drawing/2014/main" id="{C92C4BB6-F571-C247-230E-B78483C081F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3049950" y="16668630"/>
            <a:ext cx="4516755" cy="2790825"/>
          </a:xfrm>
          <a:prstGeom prst="rect">
            <a:avLst/>
          </a:prstGeom>
          <a:noFill/>
        </p:spPr>
      </p:pic>
      <p:pic>
        <p:nvPicPr>
          <p:cNvPr id="41" name="Imagen 40">
            <a:extLst>
              <a:ext uri="{FF2B5EF4-FFF2-40B4-BE49-F238E27FC236}">
                <a16:creationId xmlns:a16="http://schemas.microsoft.com/office/drawing/2014/main" id="{5853A268-8F81-1AEF-A65B-995535B297A4}"/>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7657656" y="16751581"/>
            <a:ext cx="4248974" cy="2624922"/>
          </a:xfrm>
          <a:prstGeom prst="rect">
            <a:avLst/>
          </a:prstGeom>
          <a:noFill/>
        </p:spPr>
      </p:pic>
      <p:sp>
        <p:nvSpPr>
          <p:cNvPr id="43" name="CuadroTexto 42">
            <a:extLst>
              <a:ext uri="{FF2B5EF4-FFF2-40B4-BE49-F238E27FC236}">
                <a16:creationId xmlns:a16="http://schemas.microsoft.com/office/drawing/2014/main" id="{47B16153-4A7D-A7AD-A354-46C650A1A622}"/>
              </a:ext>
            </a:extLst>
          </p:cNvPr>
          <p:cNvSpPr txBox="1"/>
          <p:nvPr/>
        </p:nvSpPr>
        <p:spPr>
          <a:xfrm>
            <a:off x="33209763" y="12918402"/>
            <a:ext cx="9090236" cy="3416320"/>
          </a:xfrm>
          <a:prstGeom prst="rect">
            <a:avLst/>
          </a:prstGeom>
          <a:noFill/>
        </p:spPr>
        <p:txBody>
          <a:bodyPr wrap="square">
            <a:spAutoFit/>
          </a:bodyPr>
          <a:lstStyle/>
          <a:p>
            <a:r>
              <a:rPr lang="en-US" sz="1800" dirty="0">
                <a:effectLst/>
                <a:latin typeface="Times New Roman" panose="02020603050405020304" pitchFamily="18" charset="0"/>
                <a:ea typeface="Calibri" panose="020F0502020204030204" pitchFamily="34" charset="0"/>
              </a:rPr>
              <a:t>Figure 3. Tornado plot of the one‑way sensitivity analysis for the incremental cost‑effectiveness ratio (ICER) of long‑acting </a:t>
            </a:r>
            <a:r>
              <a:rPr lang="en-US" sz="1800" dirty="0" err="1">
                <a:effectLst/>
                <a:latin typeface="Times New Roman" panose="02020603050405020304" pitchFamily="18" charset="0"/>
                <a:ea typeface="Calibri" panose="020F0502020204030204" pitchFamily="34" charset="0"/>
              </a:rPr>
              <a:t>lenacapavir</a:t>
            </a:r>
            <a:r>
              <a:rPr lang="en-US" sz="1800" dirty="0">
                <a:effectLst/>
                <a:latin typeface="Times New Roman" panose="02020603050405020304" pitchFamily="18" charset="0"/>
                <a:ea typeface="Calibri" panose="020F0502020204030204" pitchFamily="34" charset="0"/>
              </a:rPr>
              <a:t> versus daily oral tenofovir disoproxil fumarate/emtricitabine (TDF/FTC). </a:t>
            </a:r>
            <a:r>
              <a:rPr lang="en-GB" sz="1800" dirty="0">
                <a:effectLst/>
                <a:latin typeface="Times New Roman" panose="02020603050405020304" pitchFamily="18" charset="0"/>
                <a:ea typeface="Calibri" panose="020F0502020204030204" pitchFamily="34" charset="0"/>
              </a:rPr>
              <a:t>The vertical red line represents the willingness-to pay-threshold. </a:t>
            </a:r>
            <a:r>
              <a:rPr lang="en-US" sz="1800" dirty="0">
                <a:effectLst/>
                <a:latin typeface="Times New Roman" panose="02020603050405020304" pitchFamily="18" charset="0"/>
                <a:ea typeface="Calibri" panose="020F0502020204030204" pitchFamily="34" charset="0"/>
              </a:rPr>
              <a:t>Bars show the change in the ICER (x‑axis) when each input parameter (y‑axis, ranked by influence) is varied across its plausible range while all others are held at base‑case values. The vertical blue line marks the base‑case ICER; the red line indicates the willingness‑to‑pay threshold (€50 000 per quality‑adjusted life‑year [QALY]). Parameters whose bars extend furthest from the blue line exert the greatest impact on cost‑effectiveness—most notably HIV </a:t>
            </a:r>
            <a:r>
              <a:rPr lang="en-US" dirty="0">
                <a:latin typeface="Times New Roman" panose="02020603050405020304" pitchFamily="18" charset="0"/>
                <a:ea typeface="Calibri" panose="020F0502020204030204" pitchFamily="34" charset="0"/>
              </a:rPr>
              <a:t>prevalence</a:t>
            </a:r>
            <a:r>
              <a:rPr lang="en-US" sz="1800" dirty="0">
                <a:effectLst/>
                <a:latin typeface="Times New Roman" panose="02020603050405020304" pitchFamily="18" charset="0"/>
                <a:ea typeface="Calibri" panose="020F0502020204030204" pitchFamily="34" charset="0"/>
              </a:rPr>
              <a:t> in men who have sex with men (HIV‑MSM4), </a:t>
            </a:r>
            <a:r>
              <a:rPr lang="en-US" sz="1800" dirty="0" err="1">
                <a:effectLst/>
                <a:latin typeface="Times New Roman" panose="02020603050405020304" pitchFamily="18" charset="0"/>
                <a:ea typeface="Calibri" panose="020F0502020204030204" pitchFamily="34" charset="0"/>
              </a:rPr>
              <a:t>PrEP</a:t>
            </a:r>
            <a:r>
              <a:rPr lang="en-US" sz="1800" dirty="0">
                <a:effectLst/>
                <a:latin typeface="Times New Roman" panose="02020603050405020304" pitchFamily="18" charset="0"/>
                <a:ea typeface="Calibri" panose="020F0502020204030204" pitchFamily="34" charset="0"/>
              </a:rPr>
              <a:t> adherence, and the annual number of high‑risk partners (</a:t>
            </a:r>
            <a:r>
              <a:rPr lang="en-US" sz="1800" dirty="0" err="1">
                <a:effectLst/>
                <a:latin typeface="Times New Roman" panose="02020603050405020304" pitchFamily="18" charset="0"/>
                <a:ea typeface="Calibri" panose="020F0502020204030204" pitchFamily="34" charset="0"/>
              </a:rPr>
              <a:t>nh</a:t>
            </a:r>
            <a:r>
              <a:rPr lang="en-US" sz="1800" dirty="0">
                <a:effectLst/>
                <a:latin typeface="Times New Roman" panose="02020603050405020304" pitchFamily="18" charset="0"/>
                <a:ea typeface="Calibri" panose="020F0502020204030204" pitchFamily="34" charset="0"/>
              </a:rPr>
              <a:t>). None of the tested ranges drive the ICER below the threshold, indicating that </a:t>
            </a:r>
            <a:r>
              <a:rPr lang="en-US" sz="1800" dirty="0" err="1">
                <a:effectLst/>
                <a:latin typeface="Times New Roman" panose="02020603050405020304" pitchFamily="18" charset="0"/>
                <a:ea typeface="Calibri" panose="020F0502020204030204" pitchFamily="34" charset="0"/>
              </a:rPr>
              <a:t>lenacapavir</a:t>
            </a:r>
            <a:r>
              <a:rPr lang="en-US" sz="1800" dirty="0">
                <a:effectLst/>
                <a:latin typeface="Times New Roman" panose="02020603050405020304" pitchFamily="18" charset="0"/>
                <a:ea typeface="Calibri" panose="020F0502020204030204" pitchFamily="34" charset="0"/>
              </a:rPr>
              <a:t> remains more costly per QALY gained than TDF/FTC under all plausible one‑way variations. </a:t>
            </a:r>
            <a:endParaRPr lang="es-ES" dirty="0"/>
          </a:p>
        </p:txBody>
      </p:sp>
      <p:sp>
        <p:nvSpPr>
          <p:cNvPr id="46" name="CuadroTexto 45">
            <a:extLst>
              <a:ext uri="{FF2B5EF4-FFF2-40B4-BE49-F238E27FC236}">
                <a16:creationId xmlns:a16="http://schemas.microsoft.com/office/drawing/2014/main" id="{0ECDEF14-14D3-7FFF-D4CB-35D860AAE697}"/>
              </a:ext>
            </a:extLst>
          </p:cNvPr>
          <p:cNvSpPr txBox="1"/>
          <p:nvPr/>
        </p:nvSpPr>
        <p:spPr>
          <a:xfrm>
            <a:off x="33209762" y="19689751"/>
            <a:ext cx="9090236" cy="1027782"/>
          </a:xfrm>
          <a:prstGeom prst="rect">
            <a:avLst/>
          </a:prstGeom>
          <a:noFill/>
        </p:spPr>
        <p:txBody>
          <a:bodyPr wrap="square">
            <a:spAutoFit/>
          </a:bodyPr>
          <a:lstStyle/>
          <a:p>
            <a:pPr>
              <a:lnSpc>
                <a:spcPct val="115000"/>
              </a:lnSpc>
              <a:spcAft>
                <a:spcPts val="1000"/>
              </a:spcAft>
              <a:buNone/>
            </a:pPr>
            <a:r>
              <a:rPr lang="en-GB" sz="1800" b="1" dirty="0">
                <a:effectLst/>
                <a:latin typeface="Times New Roman" panose="02020603050405020304" pitchFamily="18" charset="0"/>
                <a:ea typeface="Calibri" panose="020F0502020204030204" pitchFamily="34" charset="0"/>
                <a:cs typeface="Times New Roman" panose="02020603050405020304" pitchFamily="18" charset="0"/>
              </a:rPr>
              <a:t>Figure 4. </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A) Probabilistic sensitivity analysis presented in the cost-effectiveness plane (red line represents willingness to pay threshold).  B) Cost-effectiveness probability curves (red vertical line represents willingness to pay threshold). </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9" name="CuadroTexto 48">
            <a:extLst>
              <a:ext uri="{FF2B5EF4-FFF2-40B4-BE49-F238E27FC236}">
                <a16:creationId xmlns:a16="http://schemas.microsoft.com/office/drawing/2014/main" id="{B00DBFF9-2D38-D42B-1BB9-D10A31664265}"/>
              </a:ext>
            </a:extLst>
          </p:cNvPr>
          <p:cNvSpPr txBox="1"/>
          <p:nvPr/>
        </p:nvSpPr>
        <p:spPr>
          <a:xfrm>
            <a:off x="33209761" y="25153158"/>
            <a:ext cx="9090235" cy="2301977"/>
          </a:xfrm>
          <a:prstGeom prst="rect">
            <a:avLst/>
          </a:prstGeom>
          <a:noFill/>
        </p:spPr>
        <p:txBody>
          <a:bodyPr wrap="square">
            <a:spAutoFit/>
          </a:bodyPr>
          <a:lstStyle/>
          <a:p>
            <a:pPr>
              <a:lnSpc>
                <a:spcPct val="115000"/>
              </a:lnSpc>
              <a:spcAft>
                <a:spcPts val="1000"/>
              </a:spcAft>
              <a:buNone/>
            </a:pPr>
            <a:r>
              <a:rPr lang="en-GB" sz="1800" b="1" dirty="0">
                <a:effectLst/>
                <a:latin typeface="Times New Roman" panose="02020603050405020304" pitchFamily="18" charset="0"/>
                <a:ea typeface="Calibri" panose="020F0502020204030204" pitchFamily="34" charset="0"/>
                <a:cs typeface="Times New Roman" panose="02020603050405020304" pitchFamily="18" charset="0"/>
              </a:rPr>
              <a:t>Figure 6.</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Cost‑effectiveness acceptability curves with country GDP reference thresholds (2023 €). The sigmoidal curves show the probability that the intervention is cost‑effective at each willingness‑to‑pay (€/QALY) threshold on the x‑axis. Drug‑cost scenarios evaluated are: €21 088.5 (red), €8 880 (yellow) and €4 320 (green). Vertical lines mark the 2023 per‑capita GDP thresholds often used as willingness‑to‑pay yardsticks: Croatia (black), Spain (red), Euro‑zone average (blue) and Luxembourg (yellow). Higher curves at a given x‑value indicate a greater likelihood that the intervention is cost‑effective under that cost scenario.</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0" name="Imagen 59" descr="Gráfico&#10;&#10;El contenido generado por IA puede ser incorrecto.">
            <a:extLst>
              <a:ext uri="{FF2B5EF4-FFF2-40B4-BE49-F238E27FC236}">
                <a16:creationId xmlns:a16="http://schemas.microsoft.com/office/drawing/2014/main" id="{DCB41498-02AC-8D43-68F1-B5DE051CAE7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308000" y="20812638"/>
            <a:ext cx="6259828" cy="4173219"/>
          </a:xfrm>
          <a:prstGeom prst="rect">
            <a:avLst/>
          </a:prstGeom>
        </p:spPr>
      </p:pic>
      <p:sp>
        <p:nvSpPr>
          <p:cNvPr id="6" name="CuadroTexto 5">
            <a:extLst>
              <a:ext uri="{FF2B5EF4-FFF2-40B4-BE49-F238E27FC236}">
                <a16:creationId xmlns:a16="http://schemas.microsoft.com/office/drawing/2014/main" id="{0EE93146-246B-B319-F9E7-9CC1C4B5C495}"/>
              </a:ext>
            </a:extLst>
          </p:cNvPr>
          <p:cNvSpPr txBox="1"/>
          <p:nvPr/>
        </p:nvSpPr>
        <p:spPr>
          <a:xfrm>
            <a:off x="24304118" y="20681470"/>
            <a:ext cx="8349588" cy="584775"/>
          </a:xfrm>
          <a:prstGeom prst="rect">
            <a:avLst/>
          </a:prstGeom>
          <a:noFill/>
        </p:spPr>
        <p:txBody>
          <a:bodyPr wrap="square">
            <a:spAutoFit/>
          </a:bodyPr>
          <a:lstStyle/>
          <a:p>
            <a:pPr>
              <a:spcAft>
                <a:spcPts val="1000"/>
              </a:spcAft>
              <a:buNone/>
            </a:pPr>
            <a:r>
              <a:rPr lang="en-US" sz="1600" b="1" dirty="0">
                <a:effectLst/>
                <a:ea typeface="Calibri" panose="020F0502020204030204" pitchFamily="34" charset="0"/>
                <a:cs typeface="Times New Roman" panose="02020603050405020304" pitchFamily="18" charset="0"/>
              </a:rPr>
              <a:t>Table 3. </a:t>
            </a:r>
            <a:r>
              <a:rPr lang="en-US" sz="1600" dirty="0">
                <a:effectLst/>
                <a:ea typeface="Calibri" panose="020F0502020204030204" pitchFamily="34" charset="0"/>
                <a:cs typeface="Times New Roman" panose="02020603050405020304" pitchFamily="18" charset="0"/>
              </a:rPr>
              <a:t>Results of the cost-effectiveness analysis. ICER: Incremental cost-effectiveness ratio. This quantity is calculated as the difference between the intervention and the less effective alternative.</a:t>
            </a:r>
            <a:endParaRPr lang="es-ES" sz="16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46485296"/>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2013 – 2022-Design">
  <a:themeElements>
    <a:clrScheme name="Office 2013 – 2022-Design">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Design">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Design">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1662</TotalTime>
  <Words>2195</Words>
  <Application>Microsoft Office PowerPoint</Application>
  <PresentationFormat>Personalizado</PresentationFormat>
  <Paragraphs>275</Paragraphs>
  <Slides>1</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vt:i4>
      </vt:variant>
    </vt:vector>
  </HeadingPairs>
  <TitlesOfParts>
    <vt:vector size="10" baseType="lpstr">
      <vt:lpstr>Arial</vt:lpstr>
      <vt:lpstr>Gibson SemBd</vt:lpstr>
      <vt:lpstr>Open Sans</vt:lpstr>
      <vt:lpstr>Calibri Light</vt:lpstr>
      <vt:lpstr>Arial Black</vt:lpstr>
      <vt:lpstr>Aptos</vt:lpstr>
      <vt:lpstr>Times New Roman</vt:lpstr>
      <vt:lpstr>Calibri</vt:lpstr>
      <vt:lpstr>Office 2013 – 2022-Design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Raquel Jemes</dc:creator>
  <cp:lastModifiedBy>Carlos Iniesta</cp:lastModifiedBy>
  <cp:revision>53</cp:revision>
  <dcterms:created xsi:type="dcterms:W3CDTF">2020-08-28T12:01:50Z</dcterms:created>
  <dcterms:modified xsi:type="dcterms:W3CDTF">2025-10-01T17:18:52Z</dcterms:modified>
</cp:coreProperties>
</file>